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7" r:id="rId6"/>
    <p:sldId id="268" r:id="rId7"/>
  </p:sldIdLst>
  <p:sldSz cx="12188825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81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준 정" userId="7fba985d2f8ef10c" providerId="LiveId" clId="{DCC4724C-508B-40BB-A719-B3B835564F2D}"/>
    <pc:docChg chg="modSld modNotesMaster">
      <pc:chgData name="민준 정" userId="7fba985d2f8ef10c" providerId="LiveId" clId="{DCC4724C-508B-40BB-A719-B3B835564F2D}" dt="2026-04-24T04:45:49.681" v="101" actId="20577"/>
      <pc:docMkLst>
        <pc:docMk/>
      </pc:docMkLst>
      <pc:sldChg chg="modSp mod">
        <pc:chgData name="민준 정" userId="7fba985d2f8ef10c" providerId="LiveId" clId="{DCC4724C-508B-40BB-A719-B3B835564F2D}" dt="2026-04-24T04:45:46.589" v="99" actId="6549"/>
        <pc:sldMkLst>
          <pc:docMk/>
          <pc:sldMk cId="0" sldId="260"/>
        </pc:sldMkLst>
        <pc:spChg chg="mod">
          <ac:chgData name="민준 정" userId="7fba985d2f8ef10c" providerId="LiveId" clId="{DCC4724C-508B-40BB-A719-B3B835564F2D}" dt="2026-04-24T04:45:46.589" v="99" actId="6549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민준 정" userId="7fba985d2f8ef10c" providerId="LiveId" clId="{DCC4724C-508B-40BB-A719-B3B835564F2D}" dt="2026-04-24T04:44:12.321" v="97" actId="20577"/>
        <pc:sldMkLst>
          <pc:docMk/>
          <pc:sldMk cId="0" sldId="261"/>
        </pc:sldMkLst>
        <pc:spChg chg="mod">
          <ac:chgData name="민준 정" userId="7fba985d2f8ef10c" providerId="LiveId" clId="{DCC4724C-508B-40BB-A719-B3B835564F2D}" dt="2026-04-24T04:43:50.893" v="64" actId="20577"/>
          <ac:spMkLst>
            <pc:docMk/>
            <pc:sldMk cId="0" sldId="261"/>
            <ac:spMk id="205" creationId="{A1361CC4-2986-DA01-531B-E8FF686C483C}"/>
          </ac:spMkLst>
        </pc:spChg>
        <pc:spChg chg="mod">
          <ac:chgData name="민준 정" userId="7fba985d2f8ef10c" providerId="LiveId" clId="{DCC4724C-508B-40BB-A719-B3B835564F2D}" dt="2026-04-24T04:44:12.321" v="97" actId="20577"/>
          <ac:spMkLst>
            <pc:docMk/>
            <pc:sldMk cId="0" sldId="261"/>
            <ac:spMk id="264" creationId="{E33164D2-7C66-1B82-2744-D0DBA8582795}"/>
          </ac:spMkLst>
        </pc:spChg>
        <pc:spChg chg="mod">
          <ac:chgData name="민준 정" userId="7fba985d2f8ef10c" providerId="LiveId" clId="{DCC4724C-508B-40BB-A719-B3B835564F2D}" dt="2026-04-24T04:43:24.380" v="43" actId="13926"/>
          <ac:spMkLst>
            <pc:docMk/>
            <pc:sldMk cId="0" sldId="261"/>
            <ac:spMk id="332" creationId="{24A99BA1-B3A5-2378-39EF-85B0E9129625}"/>
          </ac:spMkLst>
        </pc:spChg>
      </pc:sldChg>
      <pc:sldChg chg="modSp mod">
        <pc:chgData name="민준 정" userId="7fba985d2f8ef10c" providerId="LiveId" clId="{DCC4724C-508B-40BB-A719-B3B835564F2D}" dt="2026-04-24T04:45:49.681" v="101" actId="20577"/>
        <pc:sldMkLst>
          <pc:docMk/>
          <pc:sldMk cId="0" sldId="267"/>
        </pc:sldMkLst>
        <pc:spChg chg="mod">
          <ac:chgData name="민준 정" userId="7fba985d2f8ef10c" providerId="LiveId" clId="{DCC4724C-508B-40BB-A719-B3B835564F2D}" dt="2026-04-24T04:45:49.681" v="101" actId="20577"/>
          <ac:spMkLst>
            <pc:docMk/>
            <pc:sldMk cId="0" sldId="267"/>
            <ac:spMk id="8" creationId="{00000000-0000-0000-0000-000000000000}"/>
          </ac:spMkLst>
        </pc:spChg>
      </pc:sldChg>
      <pc:sldChg chg="modSp mod">
        <pc:chgData name="민준 정" userId="7fba985d2f8ef10c" providerId="LiveId" clId="{DCC4724C-508B-40BB-A719-B3B835564F2D}" dt="2026-04-24T01:49:32.949" v="39" actId="1036"/>
        <pc:sldMkLst>
          <pc:docMk/>
          <pc:sldMk cId="0" sldId="268"/>
        </pc:sldMkLst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39" creationId="{6B140751-947E-3A50-E8AB-BA27A84F7E63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0" creationId="{515C993C-5547-08CC-B722-9260C269FCC0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2" creationId="{9974D872-3620-281E-F558-9EF315DCB307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3" creationId="{5C34B98E-1311-2AFC-3FF1-7782C4B3B415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5" creationId="{4391BDAA-4408-A1E1-A836-5545D129BC30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6" creationId="{0A820B93-BB1E-D021-4C25-54F8D2FF71E6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8" creationId="{A6841135-AB1E-EF66-DDCE-0150F15AD707}"/>
          </ac:spMkLst>
        </pc:spChg>
        <pc:spChg chg="mod">
          <ac:chgData name="민준 정" userId="7fba985d2f8ef10c" providerId="LiveId" clId="{DCC4724C-508B-40BB-A719-B3B835564F2D}" dt="2026-04-24T01:49:32.949" v="39" actId="1036"/>
          <ac:spMkLst>
            <pc:docMk/>
            <pc:sldMk cId="0" sldId="268"/>
            <ac:spMk id="49" creationId="{59EB4866-9571-20FD-1D56-3CE2847855C1}"/>
          </ac:spMkLst>
        </pc:spChg>
        <pc:picChg chg="mod">
          <ac:chgData name="민준 정" userId="7fba985d2f8ef10c" providerId="LiveId" clId="{DCC4724C-508B-40BB-A719-B3B835564F2D}" dt="2026-04-24T01:49:32.949" v="39" actId="1036"/>
          <ac:picMkLst>
            <pc:docMk/>
            <pc:sldMk cId="0" sldId="268"/>
            <ac:picMk id="41" creationId="{D3F2E99E-9582-B768-909F-2626396FFDCC}"/>
          </ac:picMkLst>
        </pc:picChg>
        <pc:picChg chg="mod">
          <ac:chgData name="민준 정" userId="7fba985d2f8ef10c" providerId="LiveId" clId="{DCC4724C-508B-40BB-A719-B3B835564F2D}" dt="2026-04-24T01:49:32.949" v="39" actId="1036"/>
          <ac:picMkLst>
            <pc:docMk/>
            <pc:sldMk cId="0" sldId="268"/>
            <ac:picMk id="44" creationId="{A0E444CD-58B2-B642-8072-191E02AAF8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9CB5B-077D-4FAD-8421-1D3A9D715959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05F36-7A22-4E30-86FD-E47E89427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8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05F36-7A22-4E30-86FD-E47E8942737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200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0" y="5120640"/>
            <a:ext cx="82296" cy="82296"/>
          </a:xfrm>
          <a:prstGeom prst="ellipse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903720" y="5120640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23760" y="5120640"/>
            <a:ext cx="82296" cy="8229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5257800"/>
            <a:ext cx="7772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640080"/>
            <a:ext cx="2011680" cy="27432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"/>
            <a:ext cx="20116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F59E0B"/>
                </a:solidFill>
                <a:latin typeface="Malgun Gothic"/>
              </a:rPr>
              <a:t>▶  </a:t>
            </a:r>
            <a:r>
              <a:rPr lang="en-US" sz="750" b="1" dirty="0">
                <a:solidFill>
                  <a:srgbClr val="F59E0B"/>
                </a:solidFill>
                <a:latin typeface="Malgun Gothic"/>
              </a:rPr>
              <a:t>DREAMPLUS </a:t>
            </a:r>
            <a:r>
              <a:rPr sz="750" b="1" i="0" dirty="0">
                <a:solidFill>
                  <a:srgbClr val="F59E0B"/>
                </a:solidFill>
                <a:latin typeface="Malgun Gothic"/>
              </a:rPr>
              <a:t>INVESTOR CLUB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05156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5200" b="1" i="0" dirty="0">
                <a:solidFill>
                  <a:srgbClr val="FFFFFF"/>
                </a:solidFill>
                <a:latin typeface="Malgun Gothic"/>
              </a:rPr>
              <a:t>드림플러스 </a:t>
            </a:r>
            <a:r>
              <a:rPr sz="5200" b="1" i="0" dirty="0" err="1">
                <a:solidFill>
                  <a:srgbClr val="FFFFFF"/>
                </a:solidFill>
                <a:latin typeface="Malgun Gothic"/>
              </a:rPr>
              <a:t>인베스터</a:t>
            </a:r>
            <a:r>
              <a:rPr lang="en-US" sz="5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5200" b="1" i="0" dirty="0" err="1">
                <a:solidFill>
                  <a:srgbClr val="FFFFFF"/>
                </a:solidFill>
                <a:latin typeface="Malgun Gothic"/>
              </a:rPr>
              <a:t>클럽</a:t>
            </a:r>
            <a:r>
              <a:rPr sz="5200" b="1" i="0" dirty="0">
                <a:solidFill>
                  <a:srgbClr val="FFFFFF"/>
                </a:solidFill>
                <a:latin typeface="Malgun Gothic"/>
              </a:rPr>
              <a:t> 2기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78608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 err="1">
                <a:solidFill>
                  <a:srgbClr val="93C5FD"/>
                </a:solidFill>
                <a:latin typeface="Malgun Gothic"/>
              </a:rPr>
              <a:t>커리큘럼</a:t>
            </a:r>
            <a:r>
              <a:rPr lang="en-US" sz="2600" b="0" i="0" dirty="0">
                <a:solidFill>
                  <a:srgbClr val="93C5FD"/>
                </a:solidFill>
                <a:latin typeface="Malgun Gothic"/>
              </a:rPr>
              <a:t>(</a:t>
            </a:r>
            <a:r>
              <a:rPr lang="ko-KR" altLang="en-US" sz="2600" b="0" i="0" dirty="0" err="1">
                <a:solidFill>
                  <a:srgbClr val="93C5FD"/>
                </a:solidFill>
                <a:latin typeface="Malgun Gothic"/>
              </a:rPr>
              <a:t>인텐시브</a:t>
            </a:r>
            <a:r>
              <a:rPr lang="ko-KR" altLang="en-US" sz="2600" b="0" i="0" dirty="0">
                <a:solidFill>
                  <a:srgbClr val="93C5FD"/>
                </a:solidFill>
                <a:latin typeface="Malgun Gothic"/>
              </a:rPr>
              <a:t> 및 정기활동</a:t>
            </a:r>
            <a:r>
              <a:rPr lang="en-US" altLang="ko-KR" sz="2600" b="0" i="0" dirty="0">
                <a:solidFill>
                  <a:srgbClr val="93C5FD"/>
                </a:solidFill>
                <a:latin typeface="Malgun Gothic"/>
              </a:rPr>
              <a:t>)</a:t>
            </a:r>
            <a:r>
              <a:rPr sz="260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lang="ko-KR" altLang="en-US" sz="2600" b="0" i="0" dirty="0">
                <a:solidFill>
                  <a:srgbClr val="93C5FD"/>
                </a:solidFill>
                <a:latin typeface="Malgun Gothic"/>
              </a:rPr>
              <a:t>기획 </a:t>
            </a:r>
            <a:endParaRPr sz="260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59E0B"/>
                </a:solidFill>
                <a:latin typeface="Malgun Gothic"/>
              </a:rPr>
              <a:t>2026. 07. 03  ─  2027. 01.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투자</a:t>
            </a:r>
            <a:r>
              <a:rPr sz="1200" b="0" i="1" dirty="0">
                <a:solidFill>
                  <a:srgbClr val="64748B"/>
                </a:solidFill>
                <a:latin typeface="Malgun Gothic"/>
              </a:rPr>
              <a:t>  ·  AI  ·  </a:t>
            </a:r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대학생</a:t>
            </a:r>
            <a:r>
              <a:rPr sz="1200" b="0" i="1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커뮤니티를</a:t>
            </a:r>
            <a:r>
              <a:rPr sz="1200" b="0" i="1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위한</a:t>
            </a:r>
            <a:r>
              <a:rPr sz="1200" b="0" i="1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프리미엄</a:t>
            </a:r>
            <a:r>
              <a:rPr sz="1200" b="0" i="1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성장</a:t>
            </a:r>
            <a:r>
              <a:rPr sz="1200" b="0" i="1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algun Gothic"/>
              </a:rPr>
              <a:t>프로그램</a:t>
            </a:r>
            <a:endParaRPr sz="1200" b="0" i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2240280" cy="804672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2240280" cy="4572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Malgun Gothic"/>
              </a:rPr>
              <a:t>6주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8726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3C5FD"/>
                </a:solidFill>
                <a:latin typeface="Malgun Gothic"/>
              </a:rPr>
              <a:t>Intensive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434840"/>
            <a:ext cx="2240280" cy="804672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0" y="4434840"/>
            <a:ext cx="2240280" cy="4572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0" y="4480560"/>
            <a:ext cx="2240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59E0B"/>
                </a:solidFill>
                <a:latin typeface="Malgun Gothic"/>
              </a:rPr>
              <a:t>4</a:t>
            </a:r>
            <a:r>
              <a:rPr lang="ko-KR" altLang="en-US" sz="2600" b="1" i="0" dirty="0">
                <a:solidFill>
                  <a:srgbClr val="F59E0B"/>
                </a:solidFill>
                <a:latin typeface="Malgun Gothic"/>
              </a:rPr>
              <a:t>개월</a:t>
            </a:r>
            <a:endParaRPr sz="2600" b="1" i="0" dirty="0">
              <a:solidFill>
                <a:srgbClr val="F59E0B"/>
              </a:solidFill>
              <a:latin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26080" y="488726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3C5FD"/>
                </a:solidFill>
                <a:latin typeface="Malgun Gothic"/>
              </a:rPr>
              <a:t>정기활동</a:t>
            </a:r>
            <a:endParaRPr sz="100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94960" y="4434840"/>
            <a:ext cx="2240280" cy="804672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94960" y="4434840"/>
            <a:ext cx="2240280" cy="4572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4480560"/>
            <a:ext cx="2240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0" dirty="0">
                <a:solidFill>
                  <a:srgbClr val="F59E0B"/>
                </a:solidFill>
                <a:latin typeface="Malgun Gothic"/>
              </a:rPr>
              <a:t>25</a:t>
            </a:r>
            <a:r>
              <a:rPr lang="ko-KR" altLang="en-US" sz="2600" b="1" i="0" dirty="0">
                <a:solidFill>
                  <a:srgbClr val="F59E0B"/>
                </a:solidFill>
                <a:latin typeface="Malgun Gothic"/>
              </a:rPr>
              <a:t>명</a:t>
            </a:r>
            <a:endParaRPr sz="2600" b="1" i="0" dirty="0">
              <a:solidFill>
                <a:srgbClr val="F59E0B"/>
              </a:solidFill>
              <a:latin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94960" y="4887264"/>
            <a:ext cx="2240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0" i="0" dirty="0">
                <a:solidFill>
                  <a:srgbClr val="93C5FD"/>
                </a:solidFill>
                <a:latin typeface="Malgun Gothic"/>
              </a:rPr>
              <a:t>우수 인재 육성</a:t>
            </a:r>
            <a:endParaRPr sz="100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0" y="6565392"/>
            <a:ext cx="121889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64748B"/>
                </a:solidFill>
                <a:latin typeface="Malgun Gothic"/>
              </a:rPr>
              <a:t>DREAMPLUS INVESTOR CLUB 2기  |  2026 ~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0"/>
            <a:ext cx="12006072" cy="4572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7160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 err="1">
                <a:solidFill>
                  <a:srgbClr val="FFFFFF"/>
                </a:solidFill>
                <a:latin typeface="Malgun Gothic"/>
              </a:rPr>
              <a:t>전체</a:t>
            </a:r>
            <a:r>
              <a:rPr sz="25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Malgun Gothic"/>
              </a:rPr>
              <a:t>일정</a:t>
            </a:r>
            <a:r>
              <a:rPr sz="25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Malgun Gothic"/>
              </a:rPr>
              <a:t>개요</a:t>
            </a:r>
            <a:endParaRPr sz="25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85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3C5FD"/>
                </a:solidFill>
                <a:latin typeface="Malgun Gothic"/>
              </a:rPr>
              <a:t>INVESTOR CLUB 2기  ·  2026.07 ~ 2027.01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02850"/>
            <a:ext cx="2873502" cy="3617313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606158"/>
            <a:ext cx="287350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760" y="177075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77989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761606"/>
            <a:ext cx="21145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Malgun Gothic"/>
              </a:rPr>
              <a:t>발대식</a:t>
            </a:r>
            <a:endParaRPr sz="1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2355966"/>
            <a:ext cx="2599182" cy="246888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55966"/>
            <a:ext cx="259918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F59E0B"/>
                </a:solidFill>
                <a:latin typeface="Malgun Gothic"/>
              </a:rPr>
              <a:t>2026. 07. 03 (금)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92846"/>
            <a:ext cx="259918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환영사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및 </a:t>
            </a:r>
            <a:r>
              <a:rPr lang="ko-KR" altLang="en-US" sz="850" b="0" i="0" dirty="0">
                <a:solidFill>
                  <a:srgbClr val="93C5FD"/>
                </a:solidFill>
                <a:latin typeface="Malgun Gothic"/>
              </a:rPr>
              <a:t>발대식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3053450"/>
            <a:ext cx="25991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금융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/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투자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개론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특강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3314054"/>
            <a:ext cx="259918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lang="ko-KR" altLang="en-US" sz="850" dirty="0">
                <a:solidFill>
                  <a:srgbClr val="93C5FD"/>
                </a:solidFill>
                <a:latin typeface="Malgun Gothic"/>
              </a:rPr>
              <a:t>프로그램 오리엔테이션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3574658"/>
            <a:ext cx="259918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lang="ko-KR" altLang="en-US" sz="850" dirty="0">
                <a:solidFill>
                  <a:srgbClr val="93C5FD"/>
                </a:solidFill>
                <a:latin typeface="Malgun Gothic"/>
              </a:rPr>
              <a:t>자기소개 과제 부여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" y="5182395"/>
            <a:ext cx="287350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11830" y="1602850"/>
            <a:ext cx="2873502" cy="3617313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1830" y="1606158"/>
            <a:ext cx="2873502" cy="4572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348990" y="1770750"/>
            <a:ext cx="384048" cy="384048"/>
          </a:xfrm>
          <a:prstGeom prst="ellipse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48990" y="177989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3622" y="1761606"/>
            <a:ext cx="2114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Malgun Gothic"/>
              </a:rPr>
              <a:t>Intensive</a:t>
            </a:r>
            <a:r>
              <a:rPr lang="en-US" sz="1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200" b="1" i="0" dirty="0">
                <a:solidFill>
                  <a:srgbClr val="FFFFFF"/>
                </a:solidFill>
                <a:latin typeface="Malgun Gothic"/>
              </a:rPr>
              <a:t>기본 포맷</a:t>
            </a:r>
            <a:endParaRPr sz="1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48990" y="2355966"/>
            <a:ext cx="2599182" cy="246888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48990" y="2355966"/>
            <a:ext cx="259918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6FEB"/>
                </a:solidFill>
                <a:latin typeface="Malgun Gothic"/>
              </a:rPr>
              <a:t>2026.07.08 ~ 08.14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11830" y="5182395"/>
            <a:ext cx="2873502" cy="36576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5060" y="1602850"/>
            <a:ext cx="2873502" cy="3617313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95060" y="1606158"/>
            <a:ext cx="287350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32220" y="1770750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2220" y="177989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6852" y="1761606"/>
            <a:ext cx="2114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Malgun Gothic"/>
              </a:rPr>
              <a:t>정기활동</a:t>
            </a:r>
            <a:r>
              <a:rPr lang="en-US" sz="1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Malgun Gothic"/>
              </a:rPr>
              <a:t>기본 포맷</a:t>
            </a:r>
            <a:endParaRPr sz="1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32220" y="2355966"/>
            <a:ext cx="2599182" cy="246888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2220" y="2355966"/>
            <a:ext cx="259918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4D8"/>
                </a:solidFill>
                <a:latin typeface="Malgun Gothic"/>
              </a:rPr>
              <a:t>2026. 09 ~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5060" y="5182395"/>
            <a:ext cx="287350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78290" y="1602850"/>
            <a:ext cx="2873502" cy="3617313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78290" y="1606158"/>
            <a:ext cx="287350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315450" y="177075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15450" y="177989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0082" y="1761606"/>
            <a:ext cx="21145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수료식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15450" y="2355966"/>
            <a:ext cx="2599182" cy="246888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15450" y="2355966"/>
            <a:ext cx="259918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B5CF6"/>
                </a:solidFill>
                <a:latin typeface="Malgun Gothic"/>
              </a:rPr>
              <a:t>2027. 01. 16 (토)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15450" y="2820141"/>
            <a:ext cx="25991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컴피티션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최종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발표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315450" y="3080745"/>
            <a:ext cx="25991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외부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심사위원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평가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315450" y="3341349"/>
            <a:ext cx="259918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lang="ko-KR" altLang="en-US" sz="850" b="0" i="0" dirty="0" err="1">
                <a:solidFill>
                  <a:srgbClr val="93C5FD"/>
                </a:solidFill>
                <a:latin typeface="Malgun Gothic"/>
              </a:rPr>
              <a:t>우수팀</a:t>
            </a:r>
            <a:r>
              <a:rPr lang="en-US" altLang="ko-KR" sz="850" b="0" i="0" dirty="0">
                <a:solidFill>
                  <a:srgbClr val="93C5FD"/>
                </a:solidFill>
                <a:latin typeface="Malgun Gothic"/>
              </a:rPr>
              <a:t>/ </a:t>
            </a:r>
            <a:r>
              <a:rPr lang="ko-KR" altLang="en-US" sz="850" b="0" i="0" dirty="0">
                <a:solidFill>
                  <a:srgbClr val="93C5FD"/>
                </a:solidFill>
                <a:latin typeface="Malgun Gothic"/>
              </a:rPr>
              <a:t>우수 개인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시상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15450" y="3601953"/>
            <a:ext cx="259918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lang="ko-KR" altLang="en-US" sz="850" b="0" i="0" dirty="0">
                <a:solidFill>
                  <a:srgbClr val="93C5FD"/>
                </a:solidFill>
                <a:latin typeface="Malgun Gothic"/>
              </a:rPr>
              <a:t>격려사 </a:t>
            </a:r>
            <a:r>
              <a:rPr lang="en-US" altLang="ko-KR" sz="850" b="0" i="0" dirty="0">
                <a:solidFill>
                  <a:srgbClr val="93C5FD"/>
                </a:solidFill>
                <a:latin typeface="Malgun Gothic"/>
              </a:rPr>
              <a:t>&amp; </a:t>
            </a:r>
            <a:r>
              <a:rPr lang="ko-KR" altLang="en-US" sz="850" b="0" i="0" dirty="0">
                <a:solidFill>
                  <a:srgbClr val="93C5FD"/>
                </a:solidFill>
                <a:latin typeface="Malgun Gothic"/>
              </a:rPr>
              <a:t>회고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178290" y="5182395"/>
            <a:ext cx="287350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14">
            <a:extLst>
              <a:ext uri="{FF2B5EF4-FFF2-40B4-BE49-F238E27FC236}">
                <a16:creationId xmlns:a16="http://schemas.microsoft.com/office/drawing/2014/main" id="{6EB8FC7F-B1CE-1DF2-0D97-991634D3D12C}"/>
              </a:ext>
            </a:extLst>
          </p:cNvPr>
          <p:cNvSpPr/>
          <p:nvPr/>
        </p:nvSpPr>
        <p:spPr>
          <a:xfrm>
            <a:off x="3267103" y="2898648"/>
            <a:ext cx="91440" cy="91440"/>
          </a:xfrm>
          <a:prstGeom prst="ellipse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95055F-5B96-97F0-4391-AF4B4D4A887A}"/>
              </a:ext>
            </a:extLst>
          </p:cNvPr>
          <p:cNvSpPr txBox="1"/>
          <p:nvPr/>
        </p:nvSpPr>
        <p:spPr>
          <a:xfrm>
            <a:off x="3349807" y="2843784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 dirty="0" err="1">
                <a:solidFill>
                  <a:srgbClr val="FFFFFF"/>
                </a:solidFill>
                <a:latin typeface="Malgun Gothic"/>
              </a:rPr>
              <a:t>강연</a:t>
            </a:r>
            <a:r>
              <a:rPr sz="900" b="1" i="0" dirty="0">
                <a:solidFill>
                  <a:srgbClr val="FFFFFF"/>
                </a:solidFill>
                <a:latin typeface="Malgun Gothic"/>
              </a:rPr>
              <a:t> 2회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CAD61B-C81D-E208-9DD4-4B583ED380EA}"/>
              </a:ext>
            </a:extLst>
          </p:cNvPr>
          <p:cNvSpPr txBox="1"/>
          <p:nvPr/>
        </p:nvSpPr>
        <p:spPr>
          <a:xfrm>
            <a:off x="4235547" y="2843784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dirty="0">
                <a:solidFill>
                  <a:srgbClr val="64748B"/>
                </a:solidFill>
                <a:latin typeface="Malgun Gothic"/>
              </a:rPr>
              <a:t>현업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전문</a:t>
            </a:r>
            <a:r>
              <a:rPr lang="ko-KR" altLang="en-US" sz="850" b="0" i="0" dirty="0">
                <a:solidFill>
                  <a:srgbClr val="64748B"/>
                </a:solidFill>
                <a:latin typeface="Malgun Gothic"/>
              </a:rPr>
              <a:t>가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강연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61" name="Oval 17">
            <a:extLst>
              <a:ext uri="{FF2B5EF4-FFF2-40B4-BE49-F238E27FC236}">
                <a16:creationId xmlns:a16="http://schemas.microsoft.com/office/drawing/2014/main" id="{C0EAD089-647D-0676-12E5-299F0EF95DCB}"/>
              </a:ext>
            </a:extLst>
          </p:cNvPr>
          <p:cNvSpPr/>
          <p:nvPr/>
        </p:nvSpPr>
        <p:spPr>
          <a:xfrm>
            <a:off x="3267103" y="3182112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669CA7-B5A2-B963-CDBB-F5149A3FFA80}"/>
              </a:ext>
            </a:extLst>
          </p:cNvPr>
          <p:cNvSpPr txBox="1"/>
          <p:nvPr/>
        </p:nvSpPr>
        <p:spPr>
          <a:xfrm>
            <a:off x="3349807" y="3127248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토론 / 발표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069507-5D20-9CDA-6F03-77F2BF345111}"/>
              </a:ext>
            </a:extLst>
          </p:cNvPr>
          <p:cNvSpPr txBox="1"/>
          <p:nvPr/>
        </p:nvSpPr>
        <p:spPr>
          <a:xfrm>
            <a:off x="4235547" y="3127248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dirty="0">
                <a:solidFill>
                  <a:srgbClr val="64748B"/>
                </a:solidFill>
                <a:latin typeface="Malgun Gothic"/>
              </a:rPr>
              <a:t>과제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발표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주제별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심층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토론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64" name="Oval 20">
            <a:extLst>
              <a:ext uri="{FF2B5EF4-FFF2-40B4-BE49-F238E27FC236}">
                <a16:creationId xmlns:a16="http://schemas.microsoft.com/office/drawing/2014/main" id="{1B8F2FA9-BDDD-47DE-A13E-6CED7D98280A}"/>
              </a:ext>
            </a:extLst>
          </p:cNvPr>
          <p:cNvSpPr/>
          <p:nvPr/>
        </p:nvSpPr>
        <p:spPr>
          <a:xfrm>
            <a:off x="3267103" y="3465576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7A811F-A035-3A6F-EB7C-199ABF438A5A}"/>
              </a:ext>
            </a:extLst>
          </p:cNvPr>
          <p:cNvSpPr txBox="1"/>
          <p:nvPr/>
        </p:nvSpPr>
        <p:spPr>
          <a:xfrm>
            <a:off x="3349807" y="3410712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밍글링 (팀빌딩)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E5E6ED-6FF2-7086-8C4E-F57CB8565F66}"/>
              </a:ext>
            </a:extLst>
          </p:cNvPr>
          <p:cNvSpPr txBox="1"/>
          <p:nvPr/>
        </p:nvSpPr>
        <p:spPr>
          <a:xfrm>
            <a:off x="4235547" y="3410712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조별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게임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네트워킹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단체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활동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67" name="Oval 23">
            <a:extLst>
              <a:ext uri="{FF2B5EF4-FFF2-40B4-BE49-F238E27FC236}">
                <a16:creationId xmlns:a16="http://schemas.microsoft.com/office/drawing/2014/main" id="{6670D9E9-43AE-9256-7EEE-DECED5611283}"/>
              </a:ext>
            </a:extLst>
          </p:cNvPr>
          <p:cNvSpPr/>
          <p:nvPr/>
        </p:nvSpPr>
        <p:spPr>
          <a:xfrm>
            <a:off x="3267103" y="37490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4F88D4-B844-000E-A9EF-409F7AB14B23}"/>
              </a:ext>
            </a:extLst>
          </p:cNvPr>
          <p:cNvSpPr txBox="1"/>
          <p:nvPr/>
        </p:nvSpPr>
        <p:spPr>
          <a:xfrm>
            <a:off x="3349807" y="3694176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모의 투자 세션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9123A8-A83A-358E-C9B6-3002710B753D}"/>
              </a:ext>
            </a:extLst>
          </p:cNvPr>
          <p:cNvSpPr txBox="1"/>
          <p:nvPr/>
        </p:nvSpPr>
        <p:spPr>
          <a:xfrm>
            <a:off x="4235547" y="3694176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주차별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850" b="0" i="0" dirty="0">
                <a:solidFill>
                  <a:srgbClr val="64748B"/>
                </a:solidFill>
                <a:latin typeface="Malgun Gothic"/>
              </a:rPr>
              <a:t>모의 투자 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및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수익률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추적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0" name="Oval 26">
            <a:extLst>
              <a:ext uri="{FF2B5EF4-FFF2-40B4-BE49-F238E27FC236}">
                <a16:creationId xmlns:a16="http://schemas.microsoft.com/office/drawing/2014/main" id="{2A1B49E8-C6A2-5B20-2773-1877AFFC6E15}"/>
              </a:ext>
            </a:extLst>
          </p:cNvPr>
          <p:cNvSpPr/>
          <p:nvPr/>
        </p:nvSpPr>
        <p:spPr>
          <a:xfrm>
            <a:off x="3267103" y="403250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05684D-CFBE-5EDA-CADD-596545D5DBC9}"/>
              </a:ext>
            </a:extLst>
          </p:cNvPr>
          <p:cNvSpPr txBox="1"/>
          <p:nvPr/>
        </p:nvSpPr>
        <p:spPr>
          <a:xfrm>
            <a:off x="3349807" y="3977640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팀 프로젝트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18CB55-05A3-A49C-029D-53CB7550C734}"/>
              </a:ext>
            </a:extLst>
          </p:cNvPr>
          <p:cNvSpPr txBox="1"/>
          <p:nvPr/>
        </p:nvSpPr>
        <p:spPr>
          <a:xfrm>
            <a:off x="4235547" y="3977640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주차별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과제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부여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FBBA8167-E701-3B48-6B4E-158D0399CEE7}"/>
              </a:ext>
            </a:extLst>
          </p:cNvPr>
          <p:cNvSpPr/>
          <p:nvPr/>
        </p:nvSpPr>
        <p:spPr>
          <a:xfrm>
            <a:off x="3267103" y="431596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543DF4-4E32-F85C-ECA6-23AA0CF14297}"/>
              </a:ext>
            </a:extLst>
          </p:cNvPr>
          <p:cNvSpPr txBox="1"/>
          <p:nvPr/>
        </p:nvSpPr>
        <p:spPr>
          <a:xfrm>
            <a:off x="3349807" y="4261104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 dirty="0" err="1">
                <a:solidFill>
                  <a:srgbClr val="FFFFFF"/>
                </a:solidFill>
                <a:latin typeface="Malgun Gothic"/>
              </a:rPr>
              <a:t>커리어</a:t>
            </a:r>
            <a:r>
              <a:rPr sz="9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900" b="1" i="0" dirty="0" err="1">
                <a:solidFill>
                  <a:srgbClr val="FFFFFF"/>
                </a:solidFill>
                <a:latin typeface="Malgun Gothic"/>
              </a:rPr>
              <a:t>세션</a:t>
            </a:r>
            <a:endParaRPr sz="9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E72247-89FE-E8BF-64A9-57EA93F15145}"/>
              </a:ext>
            </a:extLst>
          </p:cNvPr>
          <p:cNvSpPr txBox="1"/>
          <p:nvPr/>
        </p:nvSpPr>
        <p:spPr>
          <a:xfrm>
            <a:off x="4235547" y="4261104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현직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금융인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/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전문가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진로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강연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6" name="Oval 32">
            <a:extLst>
              <a:ext uri="{FF2B5EF4-FFF2-40B4-BE49-F238E27FC236}">
                <a16:creationId xmlns:a16="http://schemas.microsoft.com/office/drawing/2014/main" id="{92FBA223-7F8A-E5F5-DCB4-C4E6B38125CA}"/>
              </a:ext>
            </a:extLst>
          </p:cNvPr>
          <p:cNvSpPr/>
          <p:nvPr/>
        </p:nvSpPr>
        <p:spPr>
          <a:xfrm>
            <a:off x="3267103" y="4599431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7D9084-19D9-9B98-FE92-F6512FB719B7}"/>
              </a:ext>
            </a:extLst>
          </p:cNvPr>
          <p:cNvSpPr txBox="1"/>
          <p:nvPr/>
        </p:nvSpPr>
        <p:spPr>
          <a:xfrm>
            <a:off x="3349807" y="4544568"/>
            <a:ext cx="992533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멘토링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0F0378-FE01-D729-B38F-D0F9515867D4}"/>
              </a:ext>
            </a:extLst>
          </p:cNvPr>
          <p:cNvSpPr txBox="1"/>
          <p:nvPr/>
        </p:nvSpPr>
        <p:spPr>
          <a:xfrm>
            <a:off x="4235547" y="4544568"/>
            <a:ext cx="182235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dirty="0">
                <a:solidFill>
                  <a:srgbClr val="64748B"/>
                </a:solidFill>
                <a:latin typeface="Malgun Gothic"/>
              </a:rPr>
              <a:t>커리어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멘토링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(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로테이션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진행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)</a:t>
            </a:r>
          </a:p>
        </p:txBody>
      </p:sp>
      <p:sp>
        <p:nvSpPr>
          <p:cNvPr id="79" name="Oval 41">
            <a:extLst>
              <a:ext uri="{FF2B5EF4-FFF2-40B4-BE49-F238E27FC236}">
                <a16:creationId xmlns:a16="http://schemas.microsoft.com/office/drawing/2014/main" id="{9F2C1F7C-C8EE-B878-F414-CBAE3A4ABBF0}"/>
              </a:ext>
            </a:extLst>
          </p:cNvPr>
          <p:cNvSpPr/>
          <p:nvPr/>
        </p:nvSpPr>
        <p:spPr>
          <a:xfrm>
            <a:off x="6263844" y="2898648"/>
            <a:ext cx="91440" cy="914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FFB4EF-3643-BCD4-28CE-D2109C0C52B6}"/>
              </a:ext>
            </a:extLst>
          </p:cNvPr>
          <p:cNvSpPr txBox="1"/>
          <p:nvPr/>
        </p:nvSpPr>
        <p:spPr>
          <a:xfrm>
            <a:off x="6428436" y="2843784"/>
            <a:ext cx="9618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Malgun Gothic"/>
              </a:rPr>
              <a:t>토론</a:t>
            </a:r>
            <a:r>
              <a:rPr lang="en-US" altLang="ko-KR" sz="900" b="1" dirty="0">
                <a:solidFill>
                  <a:srgbClr val="FFFFFF"/>
                </a:solidFill>
                <a:latin typeface="Malgun Gothic"/>
              </a:rPr>
              <a:t>/</a:t>
            </a:r>
            <a:r>
              <a:rPr sz="900" b="1" i="0" dirty="0" err="1">
                <a:solidFill>
                  <a:srgbClr val="FFFFFF"/>
                </a:solidFill>
                <a:latin typeface="Malgun Gothic"/>
              </a:rPr>
              <a:t>발표</a:t>
            </a:r>
            <a:endParaRPr sz="9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8B6381-2C4F-7312-30F9-74E517DEACE2}"/>
              </a:ext>
            </a:extLst>
          </p:cNvPr>
          <p:cNvSpPr txBox="1"/>
          <p:nvPr/>
        </p:nvSpPr>
        <p:spPr>
          <a:xfrm>
            <a:off x="7348292" y="2843784"/>
            <a:ext cx="172027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과제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발표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및 </a:t>
            </a:r>
            <a:r>
              <a:rPr lang="ko-KR" altLang="en-US" sz="850" b="0" i="0" dirty="0">
                <a:solidFill>
                  <a:srgbClr val="64748B"/>
                </a:solidFill>
                <a:latin typeface="Malgun Gothic"/>
              </a:rPr>
              <a:t>토론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82" name="Oval 44">
            <a:extLst>
              <a:ext uri="{FF2B5EF4-FFF2-40B4-BE49-F238E27FC236}">
                <a16:creationId xmlns:a16="http://schemas.microsoft.com/office/drawing/2014/main" id="{E49C3196-4636-2691-4FA4-0929952E0697}"/>
              </a:ext>
            </a:extLst>
          </p:cNvPr>
          <p:cNvSpPr/>
          <p:nvPr/>
        </p:nvSpPr>
        <p:spPr>
          <a:xfrm>
            <a:off x="6263844" y="3182112"/>
            <a:ext cx="91440" cy="91440"/>
          </a:xfrm>
          <a:prstGeom prst="ellipse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651504-3B6B-1958-032C-82536183B596}"/>
              </a:ext>
            </a:extLst>
          </p:cNvPr>
          <p:cNvSpPr txBox="1"/>
          <p:nvPr/>
        </p:nvSpPr>
        <p:spPr>
          <a:xfrm>
            <a:off x="6428436" y="3127248"/>
            <a:ext cx="9618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강연 1회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054D4D-4981-89B6-023E-743F4FFC8E4D}"/>
              </a:ext>
            </a:extLst>
          </p:cNvPr>
          <p:cNvSpPr txBox="1"/>
          <p:nvPr/>
        </p:nvSpPr>
        <p:spPr>
          <a:xfrm>
            <a:off x="7348292" y="3127248"/>
            <a:ext cx="172027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b="0" i="0" dirty="0">
                <a:solidFill>
                  <a:srgbClr val="64748B"/>
                </a:solidFill>
                <a:latin typeface="Malgun Gothic"/>
              </a:rPr>
              <a:t>현업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전문가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강연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85" name="Oval 47">
            <a:extLst>
              <a:ext uri="{FF2B5EF4-FFF2-40B4-BE49-F238E27FC236}">
                <a16:creationId xmlns:a16="http://schemas.microsoft.com/office/drawing/2014/main" id="{0CDD8F34-4F62-396C-3B93-A6C3D7F206E2}"/>
              </a:ext>
            </a:extLst>
          </p:cNvPr>
          <p:cNvSpPr/>
          <p:nvPr/>
        </p:nvSpPr>
        <p:spPr>
          <a:xfrm>
            <a:off x="6263844" y="3465576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FBAF3F-9E94-C319-1080-7C35E68D97BC}"/>
              </a:ext>
            </a:extLst>
          </p:cNvPr>
          <p:cNvSpPr txBox="1"/>
          <p:nvPr/>
        </p:nvSpPr>
        <p:spPr>
          <a:xfrm>
            <a:off x="6428436" y="3410712"/>
            <a:ext cx="9618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Malgun Gothic"/>
              </a:rPr>
              <a:t>팀 </a:t>
            </a:r>
            <a:r>
              <a:rPr sz="900" b="1" i="0" dirty="0" err="1">
                <a:solidFill>
                  <a:srgbClr val="FFFFFF"/>
                </a:solidFill>
                <a:latin typeface="Malgun Gothic"/>
              </a:rPr>
              <a:t>프로젝트</a:t>
            </a:r>
            <a:endParaRPr sz="9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F552E4-99DC-1AAC-9309-B1F9B7E0A8DE}"/>
              </a:ext>
            </a:extLst>
          </p:cNvPr>
          <p:cNvSpPr txBox="1"/>
          <p:nvPr/>
        </p:nvSpPr>
        <p:spPr>
          <a:xfrm>
            <a:off x="7348292" y="3410712"/>
            <a:ext cx="172027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dirty="0">
                <a:solidFill>
                  <a:srgbClr val="64748B"/>
                </a:solidFill>
                <a:latin typeface="Malgun Gothic"/>
              </a:rPr>
              <a:t>해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당월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주제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기반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팀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과제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부여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88" name="Oval 50">
            <a:extLst>
              <a:ext uri="{FF2B5EF4-FFF2-40B4-BE49-F238E27FC236}">
                <a16:creationId xmlns:a16="http://schemas.microsoft.com/office/drawing/2014/main" id="{66630ADC-9CB3-AAE8-3078-DE9430006943}"/>
              </a:ext>
            </a:extLst>
          </p:cNvPr>
          <p:cNvSpPr/>
          <p:nvPr/>
        </p:nvSpPr>
        <p:spPr>
          <a:xfrm>
            <a:off x="6263844" y="37490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AFAD0D-4378-10AC-ED8A-124A7127F52B}"/>
              </a:ext>
            </a:extLst>
          </p:cNvPr>
          <p:cNvSpPr txBox="1"/>
          <p:nvPr/>
        </p:nvSpPr>
        <p:spPr>
          <a:xfrm>
            <a:off x="6428436" y="3694176"/>
            <a:ext cx="9618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모의 투자 세션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81A8199-F2A0-22AB-3FBD-6B757866DB94}"/>
              </a:ext>
            </a:extLst>
          </p:cNvPr>
          <p:cNvSpPr txBox="1"/>
          <p:nvPr/>
        </p:nvSpPr>
        <p:spPr>
          <a:xfrm>
            <a:off x="7348292" y="3694176"/>
            <a:ext cx="172027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b="0" i="0" dirty="0">
                <a:solidFill>
                  <a:srgbClr val="64748B"/>
                </a:solidFill>
                <a:latin typeface="Malgun Gothic"/>
              </a:rPr>
              <a:t>주차별 모의투자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리밸런싱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91" name="Oval 53">
            <a:extLst>
              <a:ext uri="{FF2B5EF4-FFF2-40B4-BE49-F238E27FC236}">
                <a16:creationId xmlns:a16="http://schemas.microsoft.com/office/drawing/2014/main" id="{70D04393-67FE-A1EA-460D-F43BA5D022BF}"/>
              </a:ext>
            </a:extLst>
          </p:cNvPr>
          <p:cNvSpPr/>
          <p:nvPr/>
        </p:nvSpPr>
        <p:spPr>
          <a:xfrm>
            <a:off x="6263844" y="4032504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3112F2-1A3A-E021-E047-166AE634726A}"/>
              </a:ext>
            </a:extLst>
          </p:cNvPr>
          <p:cNvSpPr txBox="1"/>
          <p:nvPr/>
        </p:nvSpPr>
        <p:spPr>
          <a:xfrm>
            <a:off x="6428436" y="3977640"/>
            <a:ext cx="9618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멘토링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FAE77D-CD41-B1E9-08CC-130901376672}"/>
              </a:ext>
            </a:extLst>
          </p:cNvPr>
          <p:cNvSpPr txBox="1"/>
          <p:nvPr/>
        </p:nvSpPr>
        <p:spPr>
          <a:xfrm>
            <a:off x="7348292" y="3977640"/>
            <a:ext cx="172027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850" b="0" i="0" dirty="0">
                <a:solidFill>
                  <a:srgbClr val="64748B"/>
                </a:solidFill>
                <a:latin typeface="Malgun Gothic"/>
              </a:rPr>
              <a:t>팀프로젝트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멘토링</a:t>
            </a:r>
            <a:r>
              <a:rPr sz="850" b="0" i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64748B"/>
                </a:solidFill>
                <a:latin typeface="Malgun Gothic"/>
              </a:rPr>
              <a:t>진행</a:t>
            </a:r>
            <a:endParaRPr sz="850" b="0" i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BA4E2E-230D-F581-3B91-067450F4DE8D}"/>
              </a:ext>
            </a:extLst>
          </p:cNvPr>
          <p:cNvSpPr txBox="1"/>
          <p:nvPr/>
        </p:nvSpPr>
        <p:spPr>
          <a:xfrm>
            <a:off x="9310898" y="3877185"/>
            <a:ext cx="25991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3C5FD"/>
                </a:solidFill>
                <a:latin typeface="Malgun Gothic"/>
              </a:rPr>
              <a:t>•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수료증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수여</a:t>
            </a:r>
            <a:r>
              <a:rPr sz="850" b="0" i="0" dirty="0">
                <a:solidFill>
                  <a:srgbClr val="93C5FD"/>
                </a:solidFill>
                <a:latin typeface="Malgun Gothic"/>
              </a:rPr>
              <a:t> &amp; </a:t>
            </a:r>
            <a:r>
              <a:rPr sz="850" b="0" i="0" dirty="0" err="1">
                <a:solidFill>
                  <a:srgbClr val="93C5FD"/>
                </a:solidFill>
                <a:latin typeface="Malgun Gothic"/>
              </a:rPr>
              <a:t>네트워킹</a:t>
            </a:r>
            <a:endParaRPr sz="850" b="0" i="0" dirty="0">
              <a:solidFill>
                <a:srgbClr val="93C5FD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2011680"/>
            <a:ext cx="5943600" cy="5943600"/>
          </a:xfrm>
          <a:prstGeom prst="ellipse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182880"/>
            <a:ext cx="3657600" cy="3657600"/>
          </a:xfrm>
          <a:prstGeom prst="ellipse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48640"/>
            <a:ext cx="3657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 dirty="0">
                <a:solidFill>
                  <a:srgbClr val="12254A"/>
                </a:solidFill>
                <a:latin typeface="Malgun Gothic"/>
              </a:rPr>
              <a:t>0</a:t>
            </a:r>
            <a:r>
              <a:rPr lang="en-US" sz="13000" b="1" i="0" dirty="0">
                <a:solidFill>
                  <a:srgbClr val="12254A"/>
                </a:solidFill>
                <a:latin typeface="Malgun Gothic"/>
              </a:rPr>
              <a:t>1</a:t>
            </a:r>
            <a:endParaRPr sz="13000" b="1" i="0" dirty="0">
              <a:solidFill>
                <a:srgbClr val="12254A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Intensive</a:t>
            </a:r>
          </a:p>
          <a:p>
            <a:pPr algn="l">
              <a:spcBef>
                <a:spcPts val="150"/>
              </a:spcBef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6주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Malgun Gothic"/>
              </a:rPr>
              <a:t>주차별 강연, 토론, 멘토링, 모의투자, 팀프로젝트로 구성된 집중 교육 커리큘럼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411480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4434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6FEB"/>
                </a:solidFill>
                <a:latin typeface="Malgun Gothic"/>
              </a:rPr>
              <a:t>일정   2026. 07. 08 ~ 2026. 08.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15568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64592"/>
            <a:ext cx="1463040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575" y="343928"/>
            <a:ext cx="749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Malgun Gothic"/>
              </a:rPr>
              <a:t>Intensive </a:t>
            </a:r>
            <a:r>
              <a:rPr lang="ko-KR" altLang="en-US" sz="1800" b="1" i="0" dirty="0">
                <a:solidFill>
                  <a:srgbClr val="FFFFFF"/>
                </a:solidFill>
                <a:latin typeface="Malgun Gothic"/>
              </a:rPr>
              <a:t>과정 커리큘럼 요약</a:t>
            </a:r>
            <a:endParaRPr sz="18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08592" y="164592"/>
            <a:ext cx="2743200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1E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80945FFF-8547-659B-DD48-4872B589C04C}"/>
              </a:ext>
            </a:extLst>
          </p:cNvPr>
          <p:cNvGrpSpPr/>
          <p:nvPr/>
        </p:nvGrpSpPr>
        <p:grpSpPr>
          <a:xfrm>
            <a:off x="179129" y="1285513"/>
            <a:ext cx="1908000" cy="5341368"/>
            <a:chOff x="179129" y="1279616"/>
            <a:chExt cx="1908000" cy="5341368"/>
          </a:xfrm>
        </p:grpSpPr>
        <p:sp>
          <p:nvSpPr>
            <p:cNvPr id="12" name="Rectangle 11"/>
            <p:cNvSpPr/>
            <p:nvPr/>
          </p:nvSpPr>
          <p:spPr>
            <a:xfrm>
              <a:off x="179129" y="1279616"/>
              <a:ext cx="1908000" cy="46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79129" y="1279616"/>
              <a:ext cx="7200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7469" y="1326113"/>
              <a:ext cx="15846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 dirty="0">
                  <a:solidFill>
                    <a:schemeClr val="bg1"/>
                  </a:solidFill>
                  <a:latin typeface="Malgun Gothic"/>
                </a:rPr>
                <a:t>1</a:t>
              </a:r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주차 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(7.8 ~ 7.10)</a:t>
              </a:r>
            </a:p>
            <a:p>
              <a:pPr algn="l"/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증권 및 대체투자</a:t>
              </a:r>
              <a:endParaRPr sz="950" b="1" i="0" dirty="0">
                <a:solidFill>
                  <a:schemeClr val="bg1"/>
                </a:solidFill>
                <a:latin typeface="Malgun Gothic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9129" y="19452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79129" y="1945229"/>
              <a:ext cx="50292" cy="612000"/>
            </a:xfrm>
            <a:prstGeom prst="rect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281345" y="1971665"/>
              <a:ext cx="108000" cy="108000"/>
            </a:xfrm>
            <a:prstGeom prst="ellipse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813" y="1971685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강연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5149" y="2169869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증권업의 이해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  <a:p>
              <a:pPr algn="l"/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자산운용업의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이해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79129" y="6008984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79129" y="6008984"/>
              <a:ext cx="50292" cy="6120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23"/>
            <p:cNvSpPr/>
            <p:nvPr/>
          </p:nvSpPr>
          <p:spPr>
            <a:xfrm>
              <a:off x="279469" y="6035420"/>
              <a:ext cx="108000" cy="108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7937" y="603544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밍글링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3273" y="6233624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첫 친목을 위한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단순하고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Lucky한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조별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게임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79129" y="26230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79129" y="2623029"/>
              <a:ext cx="50292" cy="6120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/>
            <p:cNvSpPr/>
            <p:nvPr/>
          </p:nvSpPr>
          <p:spPr>
            <a:xfrm>
              <a:off x="296188" y="2657693"/>
              <a:ext cx="108000" cy="1080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0696" y="265073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토론 / 발표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6032" y="2847669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1" i="0" dirty="0" err="1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자기소개</a:t>
              </a:r>
              <a:r>
                <a:rPr sz="800" b="1" i="0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 </a:t>
              </a:r>
              <a:r>
                <a:rPr sz="800" b="1" i="0" dirty="0" err="1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발표</a:t>
              </a:r>
              <a:r>
                <a:rPr sz="800" b="1" i="0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 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인당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5분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이내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)</a:t>
              </a:r>
            </a:p>
            <a:p>
              <a:pPr algn="l">
                <a:spcBef>
                  <a:spcPts val="150"/>
                </a:spcBef>
              </a:pP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발표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후 조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구성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(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인텐시브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기간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유지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79129" y="5322010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79129" y="5322010"/>
              <a:ext cx="50292" cy="612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283220" y="5348446"/>
              <a:ext cx="108000" cy="108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91688" y="5348466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모의</a:t>
              </a:r>
              <a:r>
                <a:rPr sz="950" b="1" i="0" dirty="0">
                  <a:solidFill>
                    <a:srgbClr val="1E293B"/>
                  </a:solidFill>
                  <a:latin typeface="Malgun Gothic"/>
                </a:rPr>
                <a:t> </a:t>
              </a:r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투자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47024" y="5546650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운영방식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공유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en-US" sz="800" dirty="0">
                  <a:solidFill>
                    <a:srgbClr val="64748B"/>
                  </a:solidFill>
                  <a:latin typeface="Malgun Gothic"/>
                </a:rPr>
                <a:t>/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조별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배분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토의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후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서면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제출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79129" y="3954107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79129" y="3954107"/>
              <a:ext cx="50292" cy="612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288325" y="3980543"/>
              <a:ext cx="108000" cy="108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6793" y="398056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커리어 세션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52129" y="4178747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펀드매니저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또는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애널리스트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79129" y="4640035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79129" y="4640035"/>
              <a:ext cx="50292" cy="612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Oval 43"/>
            <p:cNvSpPr/>
            <p:nvPr/>
          </p:nvSpPr>
          <p:spPr>
            <a:xfrm>
              <a:off x="293429" y="4666471"/>
              <a:ext cx="108000" cy="1080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01897" y="4666491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팀 프로젝트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57233" y="4864675"/>
              <a:ext cx="1800000" cy="3949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투자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관련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채널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(책,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유튜브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,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강의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등)</a:t>
              </a:r>
            </a:p>
            <a:p>
              <a:pPr algn="l">
                <a:spcBef>
                  <a:spcPts val="150"/>
                </a:spcBef>
              </a:pP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팀 내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공유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후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좋은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채널과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인사이트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발표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79129" y="3280776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79129" y="3280776"/>
              <a:ext cx="50292" cy="6120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Oval 48"/>
            <p:cNvSpPr/>
            <p:nvPr/>
          </p:nvSpPr>
          <p:spPr>
            <a:xfrm>
              <a:off x="303014" y="3315440"/>
              <a:ext cx="108000" cy="108000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7522" y="330848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멘토링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52858" y="3505416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i="0">
                  <a:solidFill>
                    <a:srgbClr val="64748B"/>
                  </a:solidFill>
                  <a:latin typeface="Malgun Gothic"/>
                </a:rPr>
                <a:t>멘토 소개 및 멘토링 1회차 진행</a:t>
              </a: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E90000FB-CC54-C1DA-6995-1618F8AD760B}"/>
              </a:ext>
            </a:extLst>
          </p:cNvPr>
          <p:cNvGrpSpPr/>
          <p:nvPr/>
        </p:nvGrpSpPr>
        <p:grpSpPr>
          <a:xfrm>
            <a:off x="2172062" y="1285513"/>
            <a:ext cx="1908000" cy="5341368"/>
            <a:chOff x="179129" y="1279616"/>
            <a:chExt cx="1908000" cy="5341368"/>
          </a:xfrm>
        </p:grpSpPr>
        <p:sp>
          <p:nvSpPr>
            <p:cNvPr id="188" name="Rectangle 11">
              <a:extLst>
                <a:ext uri="{FF2B5EF4-FFF2-40B4-BE49-F238E27FC236}">
                  <a16:creationId xmlns:a16="http://schemas.microsoft.com/office/drawing/2014/main" id="{C36C773F-EE9D-047D-6945-F92A7B58A49F}"/>
                </a:ext>
              </a:extLst>
            </p:cNvPr>
            <p:cNvSpPr/>
            <p:nvPr/>
          </p:nvSpPr>
          <p:spPr>
            <a:xfrm>
              <a:off x="179129" y="1279616"/>
              <a:ext cx="1908000" cy="46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89" name="Rectangle 12">
              <a:extLst>
                <a:ext uri="{FF2B5EF4-FFF2-40B4-BE49-F238E27FC236}">
                  <a16:creationId xmlns:a16="http://schemas.microsoft.com/office/drawing/2014/main" id="{81115009-DBD3-33AF-3907-818E5DF1F4EB}"/>
                </a:ext>
              </a:extLst>
            </p:cNvPr>
            <p:cNvSpPr/>
            <p:nvPr/>
          </p:nvSpPr>
          <p:spPr>
            <a:xfrm>
              <a:off x="179129" y="1279616"/>
              <a:ext cx="7200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62D3F2C-221D-C0E9-853D-82B8A08078B4}"/>
                </a:ext>
              </a:extLst>
            </p:cNvPr>
            <p:cNvSpPr txBox="1"/>
            <p:nvPr/>
          </p:nvSpPr>
          <p:spPr>
            <a:xfrm>
              <a:off x="387469" y="1326113"/>
              <a:ext cx="15846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2</a:t>
              </a:r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주차 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(7.15 ~ 7.16)</a:t>
              </a:r>
            </a:p>
            <a:p>
              <a:pPr algn="l"/>
              <a:r>
                <a:rPr lang="en-US" sz="950" b="1" dirty="0">
                  <a:solidFill>
                    <a:schemeClr val="bg1"/>
                  </a:solidFill>
                  <a:latin typeface="Malgun Gothic"/>
                </a:rPr>
                <a:t>Venture Capital</a:t>
              </a:r>
              <a:endParaRPr sz="950" b="1" i="0" dirty="0">
                <a:solidFill>
                  <a:schemeClr val="bg1"/>
                </a:solidFill>
                <a:latin typeface="Malgun Gothic"/>
              </a:endParaRPr>
            </a:p>
          </p:txBody>
        </p:sp>
        <p:sp>
          <p:nvSpPr>
            <p:cNvPr id="191" name="Rectangle 16">
              <a:extLst>
                <a:ext uri="{FF2B5EF4-FFF2-40B4-BE49-F238E27FC236}">
                  <a16:creationId xmlns:a16="http://schemas.microsoft.com/office/drawing/2014/main" id="{66928DAB-C0B6-16C9-B30B-EDDDB3D88FFC}"/>
                </a:ext>
              </a:extLst>
            </p:cNvPr>
            <p:cNvSpPr/>
            <p:nvPr/>
          </p:nvSpPr>
          <p:spPr>
            <a:xfrm>
              <a:off x="179129" y="19452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2" name="Rectangle 17">
              <a:extLst>
                <a:ext uri="{FF2B5EF4-FFF2-40B4-BE49-F238E27FC236}">
                  <a16:creationId xmlns:a16="http://schemas.microsoft.com/office/drawing/2014/main" id="{4A6A354A-EC6B-3BA6-5764-BAA7652CC9B6}"/>
                </a:ext>
              </a:extLst>
            </p:cNvPr>
            <p:cNvSpPr/>
            <p:nvPr/>
          </p:nvSpPr>
          <p:spPr>
            <a:xfrm>
              <a:off x="179129" y="1945229"/>
              <a:ext cx="50292" cy="612000"/>
            </a:xfrm>
            <a:prstGeom prst="rect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Oval 18">
              <a:extLst>
                <a:ext uri="{FF2B5EF4-FFF2-40B4-BE49-F238E27FC236}">
                  <a16:creationId xmlns:a16="http://schemas.microsoft.com/office/drawing/2014/main" id="{FA67DE63-ED7A-BED8-754F-93598C1E5119}"/>
                </a:ext>
              </a:extLst>
            </p:cNvPr>
            <p:cNvSpPr/>
            <p:nvPr/>
          </p:nvSpPr>
          <p:spPr>
            <a:xfrm>
              <a:off x="281345" y="1971665"/>
              <a:ext cx="108000" cy="108000"/>
            </a:xfrm>
            <a:prstGeom prst="ellipse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A04B2E7-1B4D-2FF1-53F7-3B6D10BFC018}"/>
                </a:ext>
              </a:extLst>
            </p:cNvPr>
            <p:cNvSpPr txBox="1"/>
            <p:nvPr/>
          </p:nvSpPr>
          <p:spPr>
            <a:xfrm>
              <a:off x="389813" y="1971685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강연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B6BE26DE-4D64-C172-3C31-498E7B9B9662}"/>
                </a:ext>
              </a:extLst>
            </p:cNvPr>
            <p:cNvSpPr txBox="1"/>
            <p:nvPr/>
          </p:nvSpPr>
          <p:spPr>
            <a:xfrm>
              <a:off x="245149" y="2169869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VC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업태의 이해 및 초기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VC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딜 발굴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VC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 철학</a:t>
              </a:r>
            </a:p>
          </p:txBody>
        </p:sp>
        <p:sp>
          <p:nvSpPr>
            <p:cNvPr id="196" name="Rectangle 21">
              <a:extLst>
                <a:ext uri="{FF2B5EF4-FFF2-40B4-BE49-F238E27FC236}">
                  <a16:creationId xmlns:a16="http://schemas.microsoft.com/office/drawing/2014/main" id="{AB1BF965-4274-C84E-4AC6-F46D31F4D9F4}"/>
                </a:ext>
              </a:extLst>
            </p:cNvPr>
            <p:cNvSpPr/>
            <p:nvPr/>
          </p:nvSpPr>
          <p:spPr>
            <a:xfrm>
              <a:off x="179129" y="6008984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7" name="Rectangle 22">
              <a:extLst>
                <a:ext uri="{FF2B5EF4-FFF2-40B4-BE49-F238E27FC236}">
                  <a16:creationId xmlns:a16="http://schemas.microsoft.com/office/drawing/2014/main" id="{14A37D0C-DD30-E948-4169-EB9B30D006A6}"/>
                </a:ext>
              </a:extLst>
            </p:cNvPr>
            <p:cNvSpPr/>
            <p:nvPr/>
          </p:nvSpPr>
          <p:spPr>
            <a:xfrm>
              <a:off x="179129" y="6008984"/>
              <a:ext cx="50292" cy="6120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8" name="Oval 23">
              <a:extLst>
                <a:ext uri="{FF2B5EF4-FFF2-40B4-BE49-F238E27FC236}">
                  <a16:creationId xmlns:a16="http://schemas.microsoft.com/office/drawing/2014/main" id="{11D6A78F-0D65-9176-B25F-F6F82B92D3BE}"/>
                </a:ext>
              </a:extLst>
            </p:cNvPr>
            <p:cNvSpPr/>
            <p:nvPr/>
          </p:nvSpPr>
          <p:spPr>
            <a:xfrm>
              <a:off x="279469" y="6035420"/>
              <a:ext cx="108000" cy="108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2F03305B-DF11-D078-069C-745A09AD9FE4}"/>
                </a:ext>
              </a:extLst>
            </p:cNvPr>
            <p:cNvSpPr txBox="1"/>
            <p:nvPr/>
          </p:nvSpPr>
          <p:spPr>
            <a:xfrm>
              <a:off x="387937" y="603544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밍글링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4E1BF2B5-45DE-1EC6-639C-F6140F012E32}"/>
                </a:ext>
              </a:extLst>
            </p:cNvPr>
            <p:cNvSpPr txBox="1"/>
            <p:nvPr/>
          </p:nvSpPr>
          <p:spPr>
            <a:xfrm>
              <a:off x="243273" y="6233624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태니지먼트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검사 진행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01" name="Rectangle 26">
              <a:extLst>
                <a:ext uri="{FF2B5EF4-FFF2-40B4-BE49-F238E27FC236}">
                  <a16:creationId xmlns:a16="http://schemas.microsoft.com/office/drawing/2014/main" id="{1A190440-92E1-31C3-630E-089B26B7ECB6}"/>
                </a:ext>
              </a:extLst>
            </p:cNvPr>
            <p:cNvSpPr/>
            <p:nvPr/>
          </p:nvSpPr>
          <p:spPr>
            <a:xfrm>
              <a:off x="179129" y="2623029"/>
              <a:ext cx="1908000" cy="61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Rectangle 27">
              <a:extLst>
                <a:ext uri="{FF2B5EF4-FFF2-40B4-BE49-F238E27FC236}">
                  <a16:creationId xmlns:a16="http://schemas.microsoft.com/office/drawing/2014/main" id="{9427C2DD-62C9-48B2-A4C5-C70C2B9ADE04}"/>
                </a:ext>
              </a:extLst>
            </p:cNvPr>
            <p:cNvSpPr/>
            <p:nvPr/>
          </p:nvSpPr>
          <p:spPr>
            <a:xfrm>
              <a:off x="179129" y="2623029"/>
              <a:ext cx="50292" cy="6120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3" name="Oval 28">
              <a:extLst>
                <a:ext uri="{FF2B5EF4-FFF2-40B4-BE49-F238E27FC236}">
                  <a16:creationId xmlns:a16="http://schemas.microsoft.com/office/drawing/2014/main" id="{353AC9CC-19EE-D347-AB85-AEC506338D99}"/>
                </a:ext>
              </a:extLst>
            </p:cNvPr>
            <p:cNvSpPr/>
            <p:nvPr/>
          </p:nvSpPr>
          <p:spPr>
            <a:xfrm>
              <a:off x="296188" y="2657693"/>
              <a:ext cx="108000" cy="1080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12AD0A03-5EE5-D40C-4422-AFC7C0524DBF}"/>
                </a:ext>
              </a:extLst>
            </p:cNvPr>
            <p:cNvSpPr txBox="1"/>
            <p:nvPr/>
          </p:nvSpPr>
          <p:spPr>
            <a:xfrm>
              <a:off x="390696" y="265073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토론 / 발표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A1361CC4-2986-DA01-531B-E8FF686C483C}"/>
                </a:ext>
              </a:extLst>
            </p:cNvPr>
            <p:cNvSpPr txBox="1"/>
            <p:nvPr/>
          </p:nvSpPr>
          <p:spPr>
            <a:xfrm>
              <a:off x="246032" y="2847669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제헌절로 </a:t>
              </a:r>
              <a:r>
                <a:rPr lang="en-US" altLang="ko-KR" sz="800" b="0" i="0" dirty="0">
                  <a:solidFill>
                    <a:srgbClr val="64748B"/>
                  </a:solidFill>
                  <a:latin typeface="Malgun Gothic"/>
                </a:rPr>
                <a:t>2</a:t>
              </a:r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일만 운영</a:t>
              </a:r>
              <a:r>
                <a:rPr lang="en-US" altLang="ko-KR" sz="800" b="0" i="0" dirty="0">
                  <a:solidFill>
                    <a:srgbClr val="64748B"/>
                  </a:solidFill>
                  <a:latin typeface="Malgun Gothic"/>
                </a:rPr>
                <a:t>/ </a:t>
              </a:r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발표 없음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06" name="Rectangle 31">
              <a:extLst>
                <a:ext uri="{FF2B5EF4-FFF2-40B4-BE49-F238E27FC236}">
                  <a16:creationId xmlns:a16="http://schemas.microsoft.com/office/drawing/2014/main" id="{11B92432-C7C5-4525-4DA4-07342FE1547E}"/>
                </a:ext>
              </a:extLst>
            </p:cNvPr>
            <p:cNvSpPr/>
            <p:nvPr/>
          </p:nvSpPr>
          <p:spPr>
            <a:xfrm>
              <a:off x="179129" y="5322010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Rectangle 32">
              <a:extLst>
                <a:ext uri="{FF2B5EF4-FFF2-40B4-BE49-F238E27FC236}">
                  <a16:creationId xmlns:a16="http://schemas.microsoft.com/office/drawing/2014/main" id="{F9E0DBE0-88C2-6EA8-D80F-1E3910BC3369}"/>
                </a:ext>
              </a:extLst>
            </p:cNvPr>
            <p:cNvSpPr/>
            <p:nvPr/>
          </p:nvSpPr>
          <p:spPr>
            <a:xfrm>
              <a:off x="179129" y="5322010"/>
              <a:ext cx="50292" cy="612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Oval 33">
              <a:extLst>
                <a:ext uri="{FF2B5EF4-FFF2-40B4-BE49-F238E27FC236}">
                  <a16:creationId xmlns:a16="http://schemas.microsoft.com/office/drawing/2014/main" id="{6ED69F25-338E-2939-ABF9-B066302B12A2}"/>
                </a:ext>
              </a:extLst>
            </p:cNvPr>
            <p:cNvSpPr/>
            <p:nvPr/>
          </p:nvSpPr>
          <p:spPr>
            <a:xfrm>
              <a:off x="283220" y="5348446"/>
              <a:ext cx="108000" cy="108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0343146-261B-BDDD-1624-3EAE234FEB35}"/>
                </a:ext>
              </a:extLst>
            </p:cNvPr>
            <p:cNvSpPr txBox="1"/>
            <p:nvPr/>
          </p:nvSpPr>
          <p:spPr>
            <a:xfrm>
              <a:off x="391688" y="5348466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모의</a:t>
              </a:r>
              <a:r>
                <a:rPr sz="950" b="1" i="0" dirty="0">
                  <a:solidFill>
                    <a:srgbClr val="1E293B"/>
                  </a:solidFill>
                  <a:latin typeface="Malgun Gothic"/>
                </a:rPr>
                <a:t> </a:t>
              </a:r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투자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D5A0D28-2E03-4D5A-C2D4-095B2DE1EEA4}"/>
                </a:ext>
              </a:extLst>
            </p:cNvPr>
            <p:cNvSpPr txBox="1"/>
            <p:nvPr/>
          </p:nvSpPr>
          <p:spPr>
            <a:xfrm>
              <a:off x="247024" y="5546650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1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주차 수익률 결과 발표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 대상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리밸런싱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팀별 논의 후 제출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11" name="Rectangle 36">
              <a:extLst>
                <a:ext uri="{FF2B5EF4-FFF2-40B4-BE49-F238E27FC236}">
                  <a16:creationId xmlns:a16="http://schemas.microsoft.com/office/drawing/2014/main" id="{64145216-4FB6-5A99-BA53-BE1ABEEA6FFD}"/>
                </a:ext>
              </a:extLst>
            </p:cNvPr>
            <p:cNvSpPr/>
            <p:nvPr/>
          </p:nvSpPr>
          <p:spPr>
            <a:xfrm>
              <a:off x="179129" y="3954107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Rectangle 37">
              <a:extLst>
                <a:ext uri="{FF2B5EF4-FFF2-40B4-BE49-F238E27FC236}">
                  <a16:creationId xmlns:a16="http://schemas.microsoft.com/office/drawing/2014/main" id="{5EF8FBA1-9C56-B5B9-6D23-9251DF990FDC}"/>
                </a:ext>
              </a:extLst>
            </p:cNvPr>
            <p:cNvSpPr/>
            <p:nvPr/>
          </p:nvSpPr>
          <p:spPr>
            <a:xfrm>
              <a:off x="179129" y="3954107"/>
              <a:ext cx="50292" cy="612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3" name="Oval 38">
              <a:extLst>
                <a:ext uri="{FF2B5EF4-FFF2-40B4-BE49-F238E27FC236}">
                  <a16:creationId xmlns:a16="http://schemas.microsoft.com/office/drawing/2014/main" id="{0E37252F-B6E7-8F7E-E1FB-6159991A2AE3}"/>
                </a:ext>
              </a:extLst>
            </p:cNvPr>
            <p:cNvSpPr/>
            <p:nvPr/>
          </p:nvSpPr>
          <p:spPr>
            <a:xfrm>
              <a:off x="288325" y="3980543"/>
              <a:ext cx="108000" cy="108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BD5107AE-02FE-08A4-8FC5-F22A6053ED4C}"/>
                </a:ext>
              </a:extLst>
            </p:cNvPr>
            <p:cNvSpPr txBox="1"/>
            <p:nvPr/>
          </p:nvSpPr>
          <p:spPr>
            <a:xfrm>
              <a:off x="396793" y="398056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커리어 세션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2C62C338-ABD5-EDE2-54F0-530E4F052739}"/>
                </a:ext>
              </a:extLst>
            </p:cNvPr>
            <p:cNvSpPr txBox="1"/>
            <p:nvPr/>
          </p:nvSpPr>
          <p:spPr>
            <a:xfrm>
              <a:off x="252129" y="4178747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회계사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16" name="Rectangle 41">
              <a:extLst>
                <a:ext uri="{FF2B5EF4-FFF2-40B4-BE49-F238E27FC236}">
                  <a16:creationId xmlns:a16="http://schemas.microsoft.com/office/drawing/2014/main" id="{7D0E01B3-1651-A2BF-287C-A60739AEED56}"/>
                </a:ext>
              </a:extLst>
            </p:cNvPr>
            <p:cNvSpPr/>
            <p:nvPr/>
          </p:nvSpPr>
          <p:spPr>
            <a:xfrm>
              <a:off x="179129" y="4640035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Rectangle 42">
              <a:extLst>
                <a:ext uri="{FF2B5EF4-FFF2-40B4-BE49-F238E27FC236}">
                  <a16:creationId xmlns:a16="http://schemas.microsoft.com/office/drawing/2014/main" id="{7D3D86A2-ED8C-CE51-1C4B-4D1A1F78E81F}"/>
                </a:ext>
              </a:extLst>
            </p:cNvPr>
            <p:cNvSpPr/>
            <p:nvPr/>
          </p:nvSpPr>
          <p:spPr>
            <a:xfrm>
              <a:off x="179129" y="4640035"/>
              <a:ext cx="50292" cy="612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8" name="Oval 43">
              <a:extLst>
                <a:ext uri="{FF2B5EF4-FFF2-40B4-BE49-F238E27FC236}">
                  <a16:creationId xmlns:a16="http://schemas.microsoft.com/office/drawing/2014/main" id="{32A1BD22-7984-8264-F3F2-275099A7768C}"/>
                </a:ext>
              </a:extLst>
            </p:cNvPr>
            <p:cNvSpPr/>
            <p:nvPr/>
          </p:nvSpPr>
          <p:spPr>
            <a:xfrm>
              <a:off x="293429" y="4666471"/>
              <a:ext cx="108000" cy="1080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1CB5C184-72BB-C5E7-08C7-B7CA54F2B447}"/>
                </a:ext>
              </a:extLst>
            </p:cNvPr>
            <p:cNvSpPr txBox="1"/>
            <p:nvPr/>
          </p:nvSpPr>
          <p:spPr>
            <a:xfrm>
              <a:off x="401897" y="4666491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팀 프로젝트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4A4586FC-E5C0-733D-3D1F-DC79A9E45CA2}"/>
                </a:ext>
              </a:extLst>
            </p:cNvPr>
            <p:cNvSpPr txBox="1"/>
            <p:nvPr/>
          </p:nvSpPr>
          <p:spPr>
            <a:xfrm>
              <a:off x="257233" y="4864675"/>
              <a:ext cx="1800000" cy="3949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VC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와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P/E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의 특징 조사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특정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투자사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또는 투자자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 1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개 선택하여 특징 분석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21" name="Rectangle 46">
              <a:extLst>
                <a:ext uri="{FF2B5EF4-FFF2-40B4-BE49-F238E27FC236}">
                  <a16:creationId xmlns:a16="http://schemas.microsoft.com/office/drawing/2014/main" id="{1680E91C-AD5A-B6A8-6F97-6036DC861C66}"/>
                </a:ext>
              </a:extLst>
            </p:cNvPr>
            <p:cNvSpPr/>
            <p:nvPr/>
          </p:nvSpPr>
          <p:spPr>
            <a:xfrm>
              <a:off x="179129" y="3280776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Rectangle 47">
              <a:extLst>
                <a:ext uri="{FF2B5EF4-FFF2-40B4-BE49-F238E27FC236}">
                  <a16:creationId xmlns:a16="http://schemas.microsoft.com/office/drawing/2014/main" id="{8B40DAE8-5741-29B2-E6F7-6075EEC583D5}"/>
                </a:ext>
              </a:extLst>
            </p:cNvPr>
            <p:cNvSpPr/>
            <p:nvPr/>
          </p:nvSpPr>
          <p:spPr>
            <a:xfrm>
              <a:off x="179129" y="3280776"/>
              <a:ext cx="50292" cy="6120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Oval 48">
              <a:extLst>
                <a:ext uri="{FF2B5EF4-FFF2-40B4-BE49-F238E27FC236}">
                  <a16:creationId xmlns:a16="http://schemas.microsoft.com/office/drawing/2014/main" id="{4AE1C696-B67A-8966-2017-575F23CB3838}"/>
                </a:ext>
              </a:extLst>
            </p:cNvPr>
            <p:cNvSpPr/>
            <p:nvPr/>
          </p:nvSpPr>
          <p:spPr>
            <a:xfrm>
              <a:off x="303014" y="3315440"/>
              <a:ext cx="108000" cy="108000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73694240-9D1C-BE23-2BC3-9688196F38AA}"/>
                </a:ext>
              </a:extLst>
            </p:cNvPr>
            <p:cNvSpPr txBox="1"/>
            <p:nvPr/>
          </p:nvSpPr>
          <p:spPr>
            <a:xfrm>
              <a:off x="397522" y="330848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멘토링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5E013394-B5F3-FC49-4BDE-DE3DAE54CD95}"/>
                </a:ext>
              </a:extLst>
            </p:cNvPr>
            <p:cNvSpPr txBox="1"/>
            <p:nvPr/>
          </p:nvSpPr>
          <p:spPr>
            <a:xfrm>
              <a:off x="252858" y="3505416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멘토</a:t>
              </a:r>
              <a:r>
                <a:rPr lang="en-US"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로테이션 및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en-US" sz="800" b="0" i="0" dirty="0">
                  <a:solidFill>
                    <a:srgbClr val="64748B"/>
                  </a:solidFill>
                  <a:latin typeface="Malgun Gothic"/>
                </a:rPr>
                <a:t>2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회차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진행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546D4549-EA8E-4A59-EF8D-47F2B909D426}"/>
              </a:ext>
            </a:extLst>
          </p:cNvPr>
          <p:cNvGrpSpPr/>
          <p:nvPr/>
        </p:nvGrpSpPr>
        <p:grpSpPr>
          <a:xfrm>
            <a:off x="4164995" y="1285513"/>
            <a:ext cx="1908000" cy="5341368"/>
            <a:chOff x="179129" y="1279616"/>
            <a:chExt cx="1908000" cy="5341368"/>
          </a:xfrm>
        </p:grpSpPr>
        <p:sp>
          <p:nvSpPr>
            <p:cNvPr id="227" name="Rectangle 11">
              <a:extLst>
                <a:ext uri="{FF2B5EF4-FFF2-40B4-BE49-F238E27FC236}">
                  <a16:creationId xmlns:a16="http://schemas.microsoft.com/office/drawing/2014/main" id="{5A758C1C-A066-7781-A6AF-FC4B7E825550}"/>
                </a:ext>
              </a:extLst>
            </p:cNvPr>
            <p:cNvSpPr/>
            <p:nvPr/>
          </p:nvSpPr>
          <p:spPr>
            <a:xfrm>
              <a:off x="179129" y="1279616"/>
              <a:ext cx="1908000" cy="46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8" name="Rectangle 12">
              <a:extLst>
                <a:ext uri="{FF2B5EF4-FFF2-40B4-BE49-F238E27FC236}">
                  <a16:creationId xmlns:a16="http://schemas.microsoft.com/office/drawing/2014/main" id="{037B25F2-BACA-0FA1-69BB-5F830B32FA90}"/>
                </a:ext>
              </a:extLst>
            </p:cNvPr>
            <p:cNvSpPr/>
            <p:nvPr/>
          </p:nvSpPr>
          <p:spPr>
            <a:xfrm>
              <a:off x="179129" y="1279616"/>
              <a:ext cx="7200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ED154855-6075-FD60-2746-148E14ED504C}"/>
                </a:ext>
              </a:extLst>
            </p:cNvPr>
            <p:cNvSpPr txBox="1"/>
            <p:nvPr/>
          </p:nvSpPr>
          <p:spPr>
            <a:xfrm>
              <a:off x="387469" y="1326113"/>
              <a:ext cx="15846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3</a:t>
              </a:r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주차 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(7.22 ~ 7.25)</a:t>
              </a:r>
            </a:p>
            <a:p>
              <a:pPr algn="l"/>
              <a:r>
                <a:rPr lang="en-US" sz="950" b="1" i="0" dirty="0">
                  <a:solidFill>
                    <a:schemeClr val="bg1"/>
                  </a:solidFill>
                  <a:latin typeface="Malgun Gothic"/>
                </a:rPr>
                <a:t>Private Equity</a:t>
              </a:r>
              <a:endParaRPr sz="950" b="1" i="0" dirty="0">
                <a:solidFill>
                  <a:schemeClr val="bg1"/>
                </a:solidFill>
                <a:latin typeface="Malgun Gothic"/>
              </a:endParaRPr>
            </a:p>
          </p:txBody>
        </p:sp>
        <p:sp>
          <p:nvSpPr>
            <p:cNvPr id="230" name="Rectangle 16">
              <a:extLst>
                <a:ext uri="{FF2B5EF4-FFF2-40B4-BE49-F238E27FC236}">
                  <a16:creationId xmlns:a16="http://schemas.microsoft.com/office/drawing/2014/main" id="{65D3397E-1FB9-6BEF-2C18-1C14766268AF}"/>
                </a:ext>
              </a:extLst>
            </p:cNvPr>
            <p:cNvSpPr/>
            <p:nvPr/>
          </p:nvSpPr>
          <p:spPr>
            <a:xfrm>
              <a:off x="179129" y="19452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1" name="Rectangle 17">
              <a:extLst>
                <a:ext uri="{FF2B5EF4-FFF2-40B4-BE49-F238E27FC236}">
                  <a16:creationId xmlns:a16="http://schemas.microsoft.com/office/drawing/2014/main" id="{AC72C2C5-3095-CD75-1B2C-08DDDD787FB7}"/>
                </a:ext>
              </a:extLst>
            </p:cNvPr>
            <p:cNvSpPr/>
            <p:nvPr/>
          </p:nvSpPr>
          <p:spPr>
            <a:xfrm>
              <a:off x="179129" y="1945229"/>
              <a:ext cx="50292" cy="612000"/>
            </a:xfrm>
            <a:prstGeom prst="rect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Oval 18">
              <a:extLst>
                <a:ext uri="{FF2B5EF4-FFF2-40B4-BE49-F238E27FC236}">
                  <a16:creationId xmlns:a16="http://schemas.microsoft.com/office/drawing/2014/main" id="{53067E48-AE0A-4007-DCE7-10D3A21E6380}"/>
                </a:ext>
              </a:extLst>
            </p:cNvPr>
            <p:cNvSpPr/>
            <p:nvPr/>
          </p:nvSpPr>
          <p:spPr>
            <a:xfrm>
              <a:off x="281345" y="1971665"/>
              <a:ext cx="108000" cy="108000"/>
            </a:xfrm>
            <a:prstGeom prst="ellipse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8149DBE2-C03E-B3C3-936B-8F23711E3ED3}"/>
                </a:ext>
              </a:extLst>
            </p:cNvPr>
            <p:cNvSpPr txBox="1"/>
            <p:nvPr/>
          </p:nvSpPr>
          <p:spPr>
            <a:xfrm>
              <a:off x="389813" y="1971685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강연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1718D0E5-8427-359E-F928-238C513E048C}"/>
                </a:ext>
              </a:extLst>
            </p:cNvPr>
            <p:cNvSpPr txBox="1"/>
            <p:nvPr/>
          </p:nvSpPr>
          <p:spPr>
            <a:xfrm>
              <a:off x="245149" y="2169869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P/E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업권의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이해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M&amp;A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시장과 경영권</a:t>
              </a:r>
            </a:p>
          </p:txBody>
        </p:sp>
        <p:sp>
          <p:nvSpPr>
            <p:cNvPr id="235" name="Rectangle 21">
              <a:extLst>
                <a:ext uri="{FF2B5EF4-FFF2-40B4-BE49-F238E27FC236}">
                  <a16:creationId xmlns:a16="http://schemas.microsoft.com/office/drawing/2014/main" id="{74923DC4-CB3A-3DD4-0D35-D506E7C14894}"/>
                </a:ext>
              </a:extLst>
            </p:cNvPr>
            <p:cNvSpPr/>
            <p:nvPr/>
          </p:nvSpPr>
          <p:spPr>
            <a:xfrm>
              <a:off x="179129" y="6008984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Rectangle 22">
              <a:extLst>
                <a:ext uri="{FF2B5EF4-FFF2-40B4-BE49-F238E27FC236}">
                  <a16:creationId xmlns:a16="http://schemas.microsoft.com/office/drawing/2014/main" id="{EAB9AAA2-B3F0-1D29-D5BF-A78A2DA9EB14}"/>
                </a:ext>
              </a:extLst>
            </p:cNvPr>
            <p:cNvSpPr/>
            <p:nvPr/>
          </p:nvSpPr>
          <p:spPr>
            <a:xfrm>
              <a:off x="179129" y="6008984"/>
              <a:ext cx="50292" cy="6120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7" name="Oval 23">
              <a:extLst>
                <a:ext uri="{FF2B5EF4-FFF2-40B4-BE49-F238E27FC236}">
                  <a16:creationId xmlns:a16="http://schemas.microsoft.com/office/drawing/2014/main" id="{F6CDDFC9-6DF7-3184-A1CB-3E4A5DCB69EF}"/>
                </a:ext>
              </a:extLst>
            </p:cNvPr>
            <p:cNvSpPr/>
            <p:nvPr/>
          </p:nvSpPr>
          <p:spPr>
            <a:xfrm>
              <a:off x="279469" y="6035420"/>
              <a:ext cx="108000" cy="108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26ED07C0-BB54-2730-555C-988406BC8BD8}"/>
                </a:ext>
              </a:extLst>
            </p:cNvPr>
            <p:cNvSpPr txBox="1"/>
            <p:nvPr/>
          </p:nvSpPr>
          <p:spPr>
            <a:xfrm>
              <a:off x="387937" y="603544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밍글링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CE64BF4B-DA4E-A9FD-609E-61812C523FC5}"/>
                </a:ext>
              </a:extLst>
            </p:cNvPr>
            <p:cNvSpPr txBox="1"/>
            <p:nvPr/>
          </p:nvSpPr>
          <p:spPr>
            <a:xfrm>
              <a:off x="243273" y="6233624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이글스 </a:t>
              </a:r>
              <a:r>
                <a:rPr lang="ko-KR" altLang="en-US" sz="800" b="1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야구 단체 관람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토요일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단체 버스 이동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/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야구장 네트워킹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40" name="Rectangle 26">
              <a:extLst>
                <a:ext uri="{FF2B5EF4-FFF2-40B4-BE49-F238E27FC236}">
                  <a16:creationId xmlns:a16="http://schemas.microsoft.com/office/drawing/2014/main" id="{A733407B-C1C2-92EA-B2B1-B0E654EB78C1}"/>
                </a:ext>
              </a:extLst>
            </p:cNvPr>
            <p:cNvSpPr/>
            <p:nvPr/>
          </p:nvSpPr>
          <p:spPr>
            <a:xfrm>
              <a:off x="179129" y="26230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1" name="Rectangle 27">
              <a:extLst>
                <a:ext uri="{FF2B5EF4-FFF2-40B4-BE49-F238E27FC236}">
                  <a16:creationId xmlns:a16="http://schemas.microsoft.com/office/drawing/2014/main" id="{DECB3048-56BF-F2C7-267E-511F6793E916}"/>
                </a:ext>
              </a:extLst>
            </p:cNvPr>
            <p:cNvSpPr/>
            <p:nvPr/>
          </p:nvSpPr>
          <p:spPr>
            <a:xfrm>
              <a:off x="179129" y="2623029"/>
              <a:ext cx="50292" cy="6120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Oval 28">
              <a:extLst>
                <a:ext uri="{FF2B5EF4-FFF2-40B4-BE49-F238E27FC236}">
                  <a16:creationId xmlns:a16="http://schemas.microsoft.com/office/drawing/2014/main" id="{A66FFE88-C868-2643-F3D6-1CAA8EC03A1F}"/>
                </a:ext>
              </a:extLst>
            </p:cNvPr>
            <p:cNvSpPr/>
            <p:nvPr/>
          </p:nvSpPr>
          <p:spPr>
            <a:xfrm>
              <a:off x="296188" y="2657693"/>
              <a:ext cx="108000" cy="1080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B8A4C531-E773-0EAF-BE8C-D3CB6DC12455}"/>
                </a:ext>
              </a:extLst>
            </p:cNvPr>
            <p:cNvSpPr txBox="1"/>
            <p:nvPr/>
          </p:nvSpPr>
          <p:spPr>
            <a:xfrm>
              <a:off x="390696" y="265073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토론 / 발표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E77EB1E5-4FCA-1348-62F4-AC3A77F2B8EB}"/>
                </a:ext>
              </a:extLst>
            </p:cNvPr>
            <p:cNvSpPr txBox="1"/>
            <p:nvPr/>
          </p:nvSpPr>
          <p:spPr>
            <a:xfrm>
              <a:off x="246032" y="2847669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VC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와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P/E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비교 토론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45" name="Rectangle 31">
              <a:extLst>
                <a:ext uri="{FF2B5EF4-FFF2-40B4-BE49-F238E27FC236}">
                  <a16:creationId xmlns:a16="http://schemas.microsoft.com/office/drawing/2014/main" id="{342EA573-E433-E9D4-0B9A-F51F91BBF211}"/>
                </a:ext>
              </a:extLst>
            </p:cNvPr>
            <p:cNvSpPr/>
            <p:nvPr/>
          </p:nvSpPr>
          <p:spPr>
            <a:xfrm>
              <a:off x="179129" y="5322010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6" name="Rectangle 32">
              <a:extLst>
                <a:ext uri="{FF2B5EF4-FFF2-40B4-BE49-F238E27FC236}">
                  <a16:creationId xmlns:a16="http://schemas.microsoft.com/office/drawing/2014/main" id="{628F482F-502A-B601-890E-AE88143F09C1}"/>
                </a:ext>
              </a:extLst>
            </p:cNvPr>
            <p:cNvSpPr/>
            <p:nvPr/>
          </p:nvSpPr>
          <p:spPr>
            <a:xfrm>
              <a:off x="179129" y="5322010"/>
              <a:ext cx="50292" cy="612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7" name="Oval 33">
              <a:extLst>
                <a:ext uri="{FF2B5EF4-FFF2-40B4-BE49-F238E27FC236}">
                  <a16:creationId xmlns:a16="http://schemas.microsoft.com/office/drawing/2014/main" id="{7219FCDF-1320-6B6A-D8DC-7477EF5FAF16}"/>
                </a:ext>
              </a:extLst>
            </p:cNvPr>
            <p:cNvSpPr/>
            <p:nvPr/>
          </p:nvSpPr>
          <p:spPr>
            <a:xfrm>
              <a:off x="283220" y="5348446"/>
              <a:ext cx="108000" cy="108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BC302A23-CA90-4652-A7F5-CA5E4B1819FC}"/>
                </a:ext>
              </a:extLst>
            </p:cNvPr>
            <p:cNvSpPr txBox="1"/>
            <p:nvPr/>
          </p:nvSpPr>
          <p:spPr>
            <a:xfrm>
              <a:off x="391688" y="5348466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모의</a:t>
              </a:r>
              <a:r>
                <a:rPr sz="950" b="1" i="0" dirty="0">
                  <a:solidFill>
                    <a:srgbClr val="1E293B"/>
                  </a:solidFill>
                  <a:latin typeface="Malgun Gothic"/>
                </a:rPr>
                <a:t> </a:t>
              </a:r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투자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90CE2064-334A-247B-50BC-1EA45416AF8E}"/>
                </a:ext>
              </a:extLst>
            </p:cNvPr>
            <p:cNvSpPr txBox="1"/>
            <p:nvPr/>
          </p:nvSpPr>
          <p:spPr>
            <a:xfrm>
              <a:off x="247024" y="5546650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2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주차 수익률 결과 발표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 대상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리밸런싱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논의 후 제출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50" name="Rectangle 36">
              <a:extLst>
                <a:ext uri="{FF2B5EF4-FFF2-40B4-BE49-F238E27FC236}">
                  <a16:creationId xmlns:a16="http://schemas.microsoft.com/office/drawing/2014/main" id="{F90AC0D0-29FD-913D-6013-593FD7A33235}"/>
                </a:ext>
              </a:extLst>
            </p:cNvPr>
            <p:cNvSpPr/>
            <p:nvPr/>
          </p:nvSpPr>
          <p:spPr>
            <a:xfrm>
              <a:off x="179129" y="3954107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1" name="Rectangle 37">
              <a:extLst>
                <a:ext uri="{FF2B5EF4-FFF2-40B4-BE49-F238E27FC236}">
                  <a16:creationId xmlns:a16="http://schemas.microsoft.com/office/drawing/2014/main" id="{86873B3A-A062-0C49-51EE-BD8C381F572C}"/>
                </a:ext>
              </a:extLst>
            </p:cNvPr>
            <p:cNvSpPr/>
            <p:nvPr/>
          </p:nvSpPr>
          <p:spPr>
            <a:xfrm>
              <a:off x="179129" y="3954107"/>
              <a:ext cx="50292" cy="612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2" name="Oval 38">
              <a:extLst>
                <a:ext uri="{FF2B5EF4-FFF2-40B4-BE49-F238E27FC236}">
                  <a16:creationId xmlns:a16="http://schemas.microsoft.com/office/drawing/2014/main" id="{43FD1E66-EC00-BB91-05FF-12047F2C335E}"/>
                </a:ext>
              </a:extLst>
            </p:cNvPr>
            <p:cNvSpPr/>
            <p:nvPr/>
          </p:nvSpPr>
          <p:spPr>
            <a:xfrm>
              <a:off x="288325" y="3980543"/>
              <a:ext cx="108000" cy="108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1D5A4DCB-3EEE-425E-DB7A-B913C87747BB}"/>
                </a:ext>
              </a:extLst>
            </p:cNvPr>
            <p:cNvSpPr txBox="1"/>
            <p:nvPr/>
          </p:nvSpPr>
          <p:spPr>
            <a:xfrm>
              <a:off x="396793" y="398056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커리어 세션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19387382-3EDD-C6A0-716C-F1E470218009}"/>
                </a:ext>
              </a:extLst>
            </p:cNvPr>
            <p:cNvSpPr txBox="1"/>
            <p:nvPr/>
          </p:nvSpPr>
          <p:spPr>
            <a:xfrm>
              <a:off x="252129" y="4178747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컨설턴트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55" name="Rectangle 41">
              <a:extLst>
                <a:ext uri="{FF2B5EF4-FFF2-40B4-BE49-F238E27FC236}">
                  <a16:creationId xmlns:a16="http://schemas.microsoft.com/office/drawing/2014/main" id="{4E85FDEA-4C7C-324F-332C-D6F3D9E67D61}"/>
                </a:ext>
              </a:extLst>
            </p:cNvPr>
            <p:cNvSpPr/>
            <p:nvPr/>
          </p:nvSpPr>
          <p:spPr>
            <a:xfrm>
              <a:off x="179129" y="4640035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6" name="Rectangle 42">
              <a:extLst>
                <a:ext uri="{FF2B5EF4-FFF2-40B4-BE49-F238E27FC236}">
                  <a16:creationId xmlns:a16="http://schemas.microsoft.com/office/drawing/2014/main" id="{8A0B5A7F-EBD4-896F-26D1-CAC53C49DADF}"/>
                </a:ext>
              </a:extLst>
            </p:cNvPr>
            <p:cNvSpPr/>
            <p:nvPr/>
          </p:nvSpPr>
          <p:spPr>
            <a:xfrm>
              <a:off x="179129" y="4640035"/>
              <a:ext cx="50292" cy="612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7" name="Oval 43">
              <a:extLst>
                <a:ext uri="{FF2B5EF4-FFF2-40B4-BE49-F238E27FC236}">
                  <a16:creationId xmlns:a16="http://schemas.microsoft.com/office/drawing/2014/main" id="{FEEE57BF-DB96-8558-2F48-688B5D69BE7B}"/>
                </a:ext>
              </a:extLst>
            </p:cNvPr>
            <p:cNvSpPr/>
            <p:nvPr/>
          </p:nvSpPr>
          <p:spPr>
            <a:xfrm>
              <a:off x="293429" y="4666471"/>
              <a:ext cx="108000" cy="1080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3B3C1F44-C786-1FD3-45D2-0EEADDC6AAE3}"/>
                </a:ext>
              </a:extLst>
            </p:cNvPr>
            <p:cNvSpPr txBox="1"/>
            <p:nvPr/>
          </p:nvSpPr>
          <p:spPr>
            <a:xfrm>
              <a:off x="401897" y="4666491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팀 프로젝트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C0E33350-C3F8-3352-0067-F3CE350611ED}"/>
                </a:ext>
              </a:extLst>
            </p:cNvPr>
            <p:cNvSpPr txBox="1"/>
            <p:nvPr/>
          </p:nvSpPr>
          <p:spPr>
            <a:xfrm>
              <a:off x="257233" y="4864675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이동간 또는 야구장에서 해볼 수 있는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간단한 팀 프로젝트 부여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60" name="Rectangle 46">
              <a:extLst>
                <a:ext uri="{FF2B5EF4-FFF2-40B4-BE49-F238E27FC236}">
                  <a16:creationId xmlns:a16="http://schemas.microsoft.com/office/drawing/2014/main" id="{A54BEEBD-E087-CA2C-A760-ED933C8E5A53}"/>
                </a:ext>
              </a:extLst>
            </p:cNvPr>
            <p:cNvSpPr/>
            <p:nvPr/>
          </p:nvSpPr>
          <p:spPr>
            <a:xfrm>
              <a:off x="179129" y="3280776"/>
              <a:ext cx="1908000" cy="61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1" name="Rectangle 47">
              <a:extLst>
                <a:ext uri="{FF2B5EF4-FFF2-40B4-BE49-F238E27FC236}">
                  <a16:creationId xmlns:a16="http://schemas.microsoft.com/office/drawing/2014/main" id="{F5AAF3BA-A030-2DBF-4A60-2C3265B9B112}"/>
                </a:ext>
              </a:extLst>
            </p:cNvPr>
            <p:cNvSpPr/>
            <p:nvPr/>
          </p:nvSpPr>
          <p:spPr>
            <a:xfrm>
              <a:off x="179129" y="3280776"/>
              <a:ext cx="50292" cy="6120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Oval 48">
              <a:extLst>
                <a:ext uri="{FF2B5EF4-FFF2-40B4-BE49-F238E27FC236}">
                  <a16:creationId xmlns:a16="http://schemas.microsoft.com/office/drawing/2014/main" id="{EFBDA72B-0559-1142-A204-79920EFBE9AA}"/>
                </a:ext>
              </a:extLst>
            </p:cNvPr>
            <p:cNvSpPr/>
            <p:nvPr/>
          </p:nvSpPr>
          <p:spPr>
            <a:xfrm>
              <a:off x="303014" y="3315440"/>
              <a:ext cx="108000" cy="108000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56CA2B97-02C2-BC1A-20C7-330445440F0E}"/>
                </a:ext>
              </a:extLst>
            </p:cNvPr>
            <p:cNvSpPr txBox="1"/>
            <p:nvPr/>
          </p:nvSpPr>
          <p:spPr>
            <a:xfrm>
              <a:off x="397522" y="330848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멘토링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E33164D2-7C66-1B82-2744-D0DBA8582795}"/>
                </a:ext>
              </a:extLst>
            </p:cNvPr>
            <p:cNvSpPr txBox="1"/>
            <p:nvPr/>
          </p:nvSpPr>
          <p:spPr>
            <a:xfrm>
              <a:off x="252858" y="3505416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토요일 야구 관람으로 금요일 일정 제외로 멘토링 </a:t>
              </a:r>
              <a:r>
                <a:rPr lang="ko-KR" altLang="en-US" sz="800" b="0" i="0" dirty="0" err="1">
                  <a:solidFill>
                    <a:srgbClr val="64748B"/>
                  </a:solidFill>
                  <a:latin typeface="Malgun Gothic"/>
                </a:rPr>
                <a:t>미운영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7ABBCAB1-8F34-912D-0414-75B7072352F2}"/>
              </a:ext>
            </a:extLst>
          </p:cNvPr>
          <p:cNvGrpSpPr/>
          <p:nvPr/>
        </p:nvGrpSpPr>
        <p:grpSpPr>
          <a:xfrm>
            <a:off x="6157928" y="1285513"/>
            <a:ext cx="1908000" cy="5341368"/>
            <a:chOff x="179129" y="1279616"/>
            <a:chExt cx="1908000" cy="5341368"/>
          </a:xfrm>
        </p:grpSpPr>
        <p:sp>
          <p:nvSpPr>
            <p:cNvPr id="266" name="Rectangle 11">
              <a:extLst>
                <a:ext uri="{FF2B5EF4-FFF2-40B4-BE49-F238E27FC236}">
                  <a16:creationId xmlns:a16="http://schemas.microsoft.com/office/drawing/2014/main" id="{966C8F68-8C3B-A991-7C39-6806975B2EDC}"/>
                </a:ext>
              </a:extLst>
            </p:cNvPr>
            <p:cNvSpPr/>
            <p:nvPr/>
          </p:nvSpPr>
          <p:spPr>
            <a:xfrm>
              <a:off x="179129" y="1279616"/>
              <a:ext cx="1908000" cy="46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67" name="Rectangle 12">
              <a:extLst>
                <a:ext uri="{FF2B5EF4-FFF2-40B4-BE49-F238E27FC236}">
                  <a16:creationId xmlns:a16="http://schemas.microsoft.com/office/drawing/2014/main" id="{D4F582AA-246B-A4F9-FC78-5B474303CDFB}"/>
                </a:ext>
              </a:extLst>
            </p:cNvPr>
            <p:cNvSpPr/>
            <p:nvPr/>
          </p:nvSpPr>
          <p:spPr>
            <a:xfrm>
              <a:off x="179129" y="1279616"/>
              <a:ext cx="7200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612E91C3-22D0-E9F6-3BCA-2505C3609097}"/>
                </a:ext>
              </a:extLst>
            </p:cNvPr>
            <p:cNvSpPr txBox="1"/>
            <p:nvPr/>
          </p:nvSpPr>
          <p:spPr>
            <a:xfrm>
              <a:off x="387469" y="1326113"/>
              <a:ext cx="15846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4</a:t>
              </a:r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주차 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(7.29 ~ 7.31)</a:t>
              </a:r>
            </a:p>
            <a:p>
              <a:pPr algn="l"/>
              <a:r>
                <a:rPr lang="en-US" sz="950" b="1" i="0" dirty="0">
                  <a:solidFill>
                    <a:schemeClr val="bg1"/>
                  </a:solidFill>
                  <a:latin typeface="Malgun Gothic"/>
                </a:rPr>
                <a:t>LP</a:t>
              </a:r>
              <a:r>
                <a:rPr lang="ko-KR" altLang="en-US" sz="950" b="1" i="0" dirty="0">
                  <a:solidFill>
                    <a:schemeClr val="bg1"/>
                  </a:solidFill>
                  <a:latin typeface="Malgun Gothic"/>
                </a:rPr>
                <a:t> 및 연기금</a:t>
              </a:r>
              <a:endParaRPr sz="950" b="1" i="0" dirty="0">
                <a:solidFill>
                  <a:schemeClr val="bg1"/>
                </a:solidFill>
                <a:latin typeface="Malgun Gothic"/>
              </a:endParaRPr>
            </a:p>
          </p:txBody>
        </p:sp>
        <p:sp>
          <p:nvSpPr>
            <p:cNvPr id="269" name="Rectangle 16">
              <a:extLst>
                <a:ext uri="{FF2B5EF4-FFF2-40B4-BE49-F238E27FC236}">
                  <a16:creationId xmlns:a16="http://schemas.microsoft.com/office/drawing/2014/main" id="{651CA25A-77FA-274A-5936-8A6A58379277}"/>
                </a:ext>
              </a:extLst>
            </p:cNvPr>
            <p:cNvSpPr/>
            <p:nvPr/>
          </p:nvSpPr>
          <p:spPr>
            <a:xfrm>
              <a:off x="179129" y="19452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Rectangle 17">
              <a:extLst>
                <a:ext uri="{FF2B5EF4-FFF2-40B4-BE49-F238E27FC236}">
                  <a16:creationId xmlns:a16="http://schemas.microsoft.com/office/drawing/2014/main" id="{86DDE61B-C4C0-6E0D-25C4-89DABD56B4C4}"/>
                </a:ext>
              </a:extLst>
            </p:cNvPr>
            <p:cNvSpPr/>
            <p:nvPr/>
          </p:nvSpPr>
          <p:spPr>
            <a:xfrm>
              <a:off x="179129" y="1945229"/>
              <a:ext cx="50292" cy="612000"/>
            </a:xfrm>
            <a:prstGeom prst="rect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1" name="Oval 18">
              <a:extLst>
                <a:ext uri="{FF2B5EF4-FFF2-40B4-BE49-F238E27FC236}">
                  <a16:creationId xmlns:a16="http://schemas.microsoft.com/office/drawing/2014/main" id="{76B6AABE-450B-EA1F-3AA3-446775A364A1}"/>
                </a:ext>
              </a:extLst>
            </p:cNvPr>
            <p:cNvSpPr/>
            <p:nvPr/>
          </p:nvSpPr>
          <p:spPr>
            <a:xfrm>
              <a:off x="281345" y="1971665"/>
              <a:ext cx="108000" cy="108000"/>
            </a:xfrm>
            <a:prstGeom prst="ellipse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0AC3E0D4-3FF9-5256-5CD8-1C982DDD6468}"/>
                </a:ext>
              </a:extLst>
            </p:cNvPr>
            <p:cNvSpPr txBox="1"/>
            <p:nvPr/>
          </p:nvSpPr>
          <p:spPr>
            <a:xfrm>
              <a:off x="389813" y="1971685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강연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6A5B1B2C-F665-77E5-09EA-4910AB5E8077}"/>
                </a:ext>
              </a:extLst>
            </p:cNvPr>
            <p:cNvSpPr txBox="1"/>
            <p:nvPr/>
          </p:nvSpPr>
          <p:spPr>
            <a:xfrm>
              <a:off x="245149" y="2169869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연금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/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기금 운용사의 이해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LP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의 이해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74" name="Rectangle 21">
              <a:extLst>
                <a:ext uri="{FF2B5EF4-FFF2-40B4-BE49-F238E27FC236}">
                  <a16:creationId xmlns:a16="http://schemas.microsoft.com/office/drawing/2014/main" id="{9698514D-EE05-EFA1-E088-9FC8C304299C}"/>
                </a:ext>
              </a:extLst>
            </p:cNvPr>
            <p:cNvSpPr/>
            <p:nvPr/>
          </p:nvSpPr>
          <p:spPr>
            <a:xfrm>
              <a:off x="179129" y="6008984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5" name="Rectangle 22">
              <a:extLst>
                <a:ext uri="{FF2B5EF4-FFF2-40B4-BE49-F238E27FC236}">
                  <a16:creationId xmlns:a16="http://schemas.microsoft.com/office/drawing/2014/main" id="{5D60E28C-8E2A-6FCF-20C5-554DFF872F86}"/>
                </a:ext>
              </a:extLst>
            </p:cNvPr>
            <p:cNvSpPr/>
            <p:nvPr/>
          </p:nvSpPr>
          <p:spPr>
            <a:xfrm>
              <a:off x="179129" y="6008984"/>
              <a:ext cx="50292" cy="6120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Oval 23">
              <a:extLst>
                <a:ext uri="{FF2B5EF4-FFF2-40B4-BE49-F238E27FC236}">
                  <a16:creationId xmlns:a16="http://schemas.microsoft.com/office/drawing/2014/main" id="{2DCBCA0F-181A-8835-518D-439F5C62F619}"/>
                </a:ext>
              </a:extLst>
            </p:cNvPr>
            <p:cNvSpPr/>
            <p:nvPr/>
          </p:nvSpPr>
          <p:spPr>
            <a:xfrm>
              <a:off x="279469" y="6035420"/>
              <a:ext cx="108000" cy="108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664094C3-9413-005C-1BEA-28B421380F07}"/>
                </a:ext>
              </a:extLst>
            </p:cNvPr>
            <p:cNvSpPr txBox="1"/>
            <p:nvPr/>
          </p:nvSpPr>
          <p:spPr>
            <a:xfrm>
              <a:off x="387937" y="603544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밍글링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6A83FA6B-1D5E-1DF1-B11F-8655CD715CC2}"/>
                </a:ext>
              </a:extLst>
            </p:cNvPr>
            <p:cNvSpPr txBox="1"/>
            <p:nvPr/>
          </p:nvSpPr>
          <p:spPr>
            <a:xfrm>
              <a:off x="243273" y="6233624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b="1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1</a:t>
              </a:r>
              <a:r>
                <a:rPr lang="ko-KR" altLang="en-US" sz="800" b="1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기 멤버와의 네트워킹</a:t>
              </a:r>
              <a:endParaRPr sz="800" b="1" i="0" dirty="0">
                <a:solidFill>
                  <a:srgbClr val="FF0000"/>
                </a:solidFill>
                <a:highlight>
                  <a:srgbClr val="000000"/>
                </a:highlight>
                <a:latin typeface="Malgun Gothic"/>
              </a:endParaRPr>
            </a:p>
          </p:txBody>
        </p:sp>
        <p:sp>
          <p:nvSpPr>
            <p:cNvPr id="279" name="Rectangle 26">
              <a:extLst>
                <a:ext uri="{FF2B5EF4-FFF2-40B4-BE49-F238E27FC236}">
                  <a16:creationId xmlns:a16="http://schemas.microsoft.com/office/drawing/2014/main" id="{87F544B1-2450-CA99-9481-83933C1293E2}"/>
                </a:ext>
              </a:extLst>
            </p:cNvPr>
            <p:cNvSpPr/>
            <p:nvPr/>
          </p:nvSpPr>
          <p:spPr>
            <a:xfrm>
              <a:off x="179129" y="26230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Rectangle 27">
              <a:extLst>
                <a:ext uri="{FF2B5EF4-FFF2-40B4-BE49-F238E27FC236}">
                  <a16:creationId xmlns:a16="http://schemas.microsoft.com/office/drawing/2014/main" id="{8660F1F1-1419-3D5C-C3BC-41AFA25B4B0B}"/>
                </a:ext>
              </a:extLst>
            </p:cNvPr>
            <p:cNvSpPr/>
            <p:nvPr/>
          </p:nvSpPr>
          <p:spPr>
            <a:xfrm>
              <a:off x="179129" y="2623029"/>
              <a:ext cx="50292" cy="6120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1" name="Oval 28">
              <a:extLst>
                <a:ext uri="{FF2B5EF4-FFF2-40B4-BE49-F238E27FC236}">
                  <a16:creationId xmlns:a16="http://schemas.microsoft.com/office/drawing/2014/main" id="{C3ECA4CD-3910-EAB3-2DB8-50888B8106B3}"/>
                </a:ext>
              </a:extLst>
            </p:cNvPr>
            <p:cNvSpPr/>
            <p:nvPr/>
          </p:nvSpPr>
          <p:spPr>
            <a:xfrm>
              <a:off x="296188" y="2657693"/>
              <a:ext cx="108000" cy="1080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DC317A0-900A-3AB9-6DB3-EC6302931B6D}"/>
                </a:ext>
              </a:extLst>
            </p:cNvPr>
            <p:cNvSpPr txBox="1"/>
            <p:nvPr/>
          </p:nvSpPr>
          <p:spPr>
            <a:xfrm>
              <a:off x="390696" y="265073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토론 / 발표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4E681FC-48D3-E170-A728-1CC17E97732A}"/>
                </a:ext>
              </a:extLst>
            </p:cNvPr>
            <p:cNvSpPr txBox="1"/>
            <p:nvPr/>
          </p:nvSpPr>
          <p:spPr>
            <a:xfrm>
              <a:off x="246032" y="2847669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 업무 중 우선순위 논의</a:t>
              </a:r>
            </a:p>
          </p:txBody>
        </p:sp>
        <p:sp>
          <p:nvSpPr>
            <p:cNvPr id="284" name="Rectangle 31">
              <a:extLst>
                <a:ext uri="{FF2B5EF4-FFF2-40B4-BE49-F238E27FC236}">
                  <a16:creationId xmlns:a16="http://schemas.microsoft.com/office/drawing/2014/main" id="{64AABB2C-021D-CD3C-698D-90F0D20D3127}"/>
                </a:ext>
              </a:extLst>
            </p:cNvPr>
            <p:cNvSpPr/>
            <p:nvPr/>
          </p:nvSpPr>
          <p:spPr>
            <a:xfrm>
              <a:off x="179129" y="5322010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5" name="Rectangle 32">
              <a:extLst>
                <a:ext uri="{FF2B5EF4-FFF2-40B4-BE49-F238E27FC236}">
                  <a16:creationId xmlns:a16="http://schemas.microsoft.com/office/drawing/2014/main" id="{6CC8DBB4-69AA-5A73-691B-88196D81ECC0}"/>
                </a:ext>
              </a:extLst>
            </p:cNvPr>
            <p:cNvSpPr/>
            <p:nvPr/>
          </p:nvSpPr>
          <p:spPr>
            <a:xfrm>
              <a:off x="179129" y="5322010"/>
              <a:ext cx="50292" cy="612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Oval 33">
              <a:extLst>
                <a:ext uri="{FF2B5EF4-FFF2-40B4-BE49-F238E27FC236}">
                  <a16:creationId xmlns:a16="http://schemas.microsoft.com/office/drawing/2014/main" id="{B5D926B5-86A2-4DEC-F5CE-5C1246703997}"/>
                </a:ext>
              </a:extLst>
            </p:cNvPr>
            <p:cNvSpPr/>
            <p:nvPr/>
          </p:nvSpPr>
          <p:spPr>
            <a:xfrm>
              <a:off x="283220" y="5348446"/>
              <a:ext cx="108000" cy="108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D5EC2908-6B23-78BF-B9DC-928C5A826B7E}"/>
                </a:ext>
              </a:extLst>
            </p:cNvPr>
            <p:cNvSpPr txBox="1"/>
            <p:nvPr/>
          </p:nvSpPr>
          <p:spPr>
            <a:xfrm>
              <a:off x="391688" y="5348466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모의</a:t>
              </a:r>
              <a:r>
                <a:rPr sz="950" b="1" i="0" dirty="0">
                  <a:solidFill>
                    <a:srgbClr val="1E293B"/>
                  </a:solidFill>
                  <a:latin typeface="Malgun Gothic"/>
                </a:rPr>
                <a:t> </a:t>
              </a:r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투자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2BD6E87F-EB93-740D-347D-6088903FC74A}"/>
                </a:ext>
              </a:extLst>
            </p:cNvPr>
            <p:cNvSpPr txBox="1"/>
            <p:nvPr/>
          </p:nvSpPr>
          <p:spPr>
            <a:xfrm>
              <a:off x="247024" y="5546650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3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주차 수익률 결과 발표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 대상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리밸런싱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논의 후 제출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89" name="Rectangle 36">
              <a:extLst>
                <a:ext uri="{FF2B5EF4-FFF2-40B4-BE49-F238E27FC236}">
                  <a16:creationId xmlns:a16="http://schemas.microsoft.com/office/drawing/2014/main" id="{5D3243A8-4A0A-E79B-32EA-2AA2BD4DBE25}"/>
                </a:ext>
              </a:extLst>
            </p:cNvPr>
            <p:cNvSpPr/>
            <p:nvPr/>
          </p:nvSpPr>
          <p:spPr>
            <a:xfrm>
              <a:off x="179129" y="3954107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0" name="Rectangle 37">
              <a:extLst>
                <a:ext uri="{FF2B5EF4-FFF2-40B4-BE49-F238E27FC236}">
                  <a16:creationId xmlns:a16="http://schemas.microsoft.com/office/drawing/2014/main" id="{FF9F2F3F-AD1B-C156-0732-1269A1C97254}"/>
                </a:ext>
              </a:extLst>
            </p:cNvPr>
            <p:cNvSpPr/>
            <p:nvPr/>
          </p:nvSpPr>
          <p:spPr>
            <a:xfrm>
              <a:off x="179129" y="3954107"/>
              <a:ext cx="50292" cy="612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1" name="Oval 38">
              <a:extLst>
                <a:ext uri="{FF2B5EF4-FFF2-40B4-BE49-F238E27FC236}">
                  <a16:creationId xmlns:a16="http://schemas.microsoft.com/office/drawing/2014/main" id="{571C0C7F-9B3A-7FC8-AE3E-8314D72ECAC4}"/>
                </a:ext>
              </a:extLst>
            </p:cNvPr>
            <p:cNvSpPr/>
            <p:nvPr/>
          </p:nvSpPr>
          <p:spPr>
            <a:xfrm>
              <a:off x="288325" y="3980543"/>
              <a:ext cx="108000" cy="108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1831074-4260-2D86-A0E5-645117DDB01D}"/>
                </a:ext>
              </a:extLst>
            </p:cNvPr>
            <p:cNvSpPr txBox="1"/>
            <p:nvPr/>
          </p:nvSpPr>
          <p:spPr>
            <a:xfrm>
              <a:off x="396793" y="398056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커리어 세션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8FE1C672-F5D6-0558-C972-7EAB7A2588D0}"/>
                </a:ext>
              </a:extLst>
            </p:cNvPr>
            <p:cNvSpPr txBox="1"/>
            <p:nvPr/>
          </p:nvSpPr>
          <p:spPr>
            <a:xfrm>
              <a:off x="252129" y="4178747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정책운용기관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94" name="Rectangle 41">
              <a:extLst>
                <a:ext uri="{FF2B5EF4-FFF2-40B4-BE49-F238E27FC236}">
                  <a16:creationId xmlns:a16="http://schemas.microsoft.com/office/drawing/2014/main" id="{2304169E-58D5-980D-67FC-728C616DC123}"/>
                </a:ext>
              </a:extLst>
            </p:cNvPr>
            <p:cNvSpPr/>
            <p:nvPr/>
          </p:nvSpPr>
          <p:spPr>
            <a:xfrm>
              <a:off x="179129" y="4640035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5" name="Rectangle 42">
              <a:extLst>
                <a:ext uri="{FF2B5EF4-FFF2-40B4-BE49-F238E27FC236}">
                  <a16:creationId xmlns:a16="http://schemas.microsoft.com/office/drawing/2014/main" id="{CC2125C4-4350-8CDA-4143-9FB9EB61D52B}"/>
                </a:ext>
              </a:extLst>
            </p:cNvPr>
            <p:cNvSpPr/>
            <p:nvPr/>
          </p:nvSpPr>
          <p:spPr>
            <a:xfrm>
              <a:off x="179129" y="4640035"/>
              <a:ext cx="50292" cy="612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6" name="Oval 43">
              <a:extLst>
                <a:ext uri="{FF2B5EF4-FFF2-40B4-BE49-F238E27FC236}">
                  <a16:creationId xmlns:a16="http://schemas.microsoft.com/office/drawing/2014/main" id="{8EB7F2CF-C02C-86B5-723B-ACC68FE1C058}"/>
                </a:ext>
              </a:extLst>
            </p:cNvPr>
            <p:cNvSpPr/>
            <p:nvPr/>
          </p:nvSpPr>
          <p:spPr>
            <a:xfrm>
              <a:off x="293429" y="4666471"/>
              <a:ext cx="108000" cy="1080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D5EFC28B-EAC2-8C45-A90B-C0EF18B222C3}"/>
                </a:ext>
              </a:extLst>
            </p:cNvPr>
            <p:cNvSpPr txBox="1"/>
            <p:nvPr/>
          </p:nvSpPr>
          <p:spPr>
            <a:xfrm>
              <a:off x="401897" y="4666491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팀 프로젝트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2190BF6F-E0F5-B537-4A76-C1CCD2A0BD07}"/>
                </a:ext>
              </a:extLst>
            </p:cNvPr>
            <p:cNvSpPr txBox="1"/>
            <p:nvPr/>
          </p:nvSpPr>
          <p:spPr>
            <a:xfrm>
              <a:off x="257233" y="4864675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b="1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오피스 투어</a:t>
              </a:r>
            </a:p>
            <a:p>
              <a:pPr algn="l">
                <a:spcBef>
                  <a:spcPts val="150"/>
                </a:spcBef>
              </a:pP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299" name="Rectangle 46">
              <a:extLst>
                <a:ext uri="{FF2B5EF4-FFF2-40B4-BE49-F238E27FC236}">
                  <a16:creationId xmlns:a16="http://schemas.microsoft.com/office/drawing/2014/main" id="{358C43EC-3722-25A0-8B4B-A42ACDF354E5}"/>
                </a:ext>
              </a:extLst>
            </p:cNvPr>
            <p:cNvSpPr/>
            <p:nvPr/>
          </p:nvSpPr>
          <p:spPr>
            <a:xfrm>
              <a:off x="179129" y="3280776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" name="Rectangle 47">
              <a:extLst>
                <a:ext uri="{FF2B5EF4-FFF2-40B4-BE49-F238E27FC236}">
                  <a16:creationId xmlns:a16="http://schemas.microsoft.com/office/drawing/2014/main" id="{08BDE054-EE41-CC74-686B-B81E1DE7A339}"/>
                </a:ext>
              </a:extLst>
            </p:cNvPr>
            <p:cNvSpPr/>
            <p:nvPr/>
          </p:nvSpPr>
          <p:spPr>
            <a:xfrm>
              <a:off x="179129" y="3280776"/>
              <a:ext cx="50292" cy="6120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1" name="Oval 48">
              <a:extLst>
                <a:ext uri="{FF2B5EF4-FFF2-40B4-BE49-F238E27FC236}">
                  <a16:creationId xmlns:a16="http://schemas.microsoft.com/office/drawing/2014/main" id="{F4FF6464-CD15-1075-E65A-3B051A71B703}"/>
                </a:ext>
              </a:extLst>
            </p:cNvPr>
            <p:cNvSpPr/>
            <p:nvPr/>
          </p:nvSpPr>
          <p:spPr>
            <a:xfrm>
              <a:off x="303014" y="3315440"/>
              <a:ext cx="108000" cy="108000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AF45BF74-3089-A704-216C-27A6F1F8FA14}"/>
                </a:ext>
              </a:extLst>
            </p:cNvPr>
            <p:cNvSpPr txBox="1"/>
            <p:nvPr/>
          </p:nvSpPr>
          <p:spPr>
            <a:xfrm>
              <a:off x="397522" y="330848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멘토링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89C38EDE-FCDC-848D-3AF5-C9AE5CDF6B56}"/>
                </a:ext>
              </a:extLst>
            </p:cNvPr>
            <p:cNvSpPr txBox="1"/>
            <p:nvPr/>
          </p:nvSpPr>
          <p:spPr>
            <a:xfrm>
              <a:off x="252858" y="3505416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멘토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로테이션 및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en-US" sz="800" b="0" i="0" dirty="0">
                  <a:solidFill>
                    <a:srgbClr val="64748B"/>
                  </a:solidFill>
                  <a:latin typeface="Malgun Gothic"/>
                </a:rPr>
                <a:t>3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회차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진행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1399EE0E-FF01-B8CB-D681-56F0CAF34F96}"/>
              </a:ext>
            </a:extLst>
          </p:cNvPr>
          <p:cNvGrpSpPr/>
          <p:nvPr/>
        </p:nvGrpSpPr>
        <p:grpSpPr>
          <a:xfrm>
            <a:off x="8150861" y="1285513"/>
            <a:ext cx="1908000" cy="5341368"/>
            <a:chOff x="179129" y="1279616"/>
            <a:chExt cx="1908000" cy="5341368"/>
          </a:xfrm>
        </p:grpSpPr>
        <p:sp>
          <p:nvSpPr>
            <p:cNvPr id="305" name="Rectangle 11">
              <a:extLst>
                <a:ext uri="{FF2B5EF4-FFF2-40B4-BE49-F238E27FC236}">
                  <a16:creationId xmlns:a16="http://schemas.microsoft.com/office/drawing/2014/main" id="{A434E92E-478B-8034-C881-671A300C6503}"/>
                </a:ext>
              </a:extLst>
            </p:cNvPr>
            <p:cNvSpPr/>
            <p:nvPr/>
          </p:nvSpPr>
          <p:spPr>
            <a:xfrm>
              <a:off x="179129" y="1279616"/>
              <a:ext cx="1908000" cy="46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06" name="Rectangle 12">
              <a:extLst>
                <a:ext uri="{FF2B5EF4-FFF2-40B4-BE49-F238E27FC236}">
                  <a16:creationId xmlns:a16="http://schemas.microsoft.com/office/drawing/2014/main" id="{3F6AA32A-FF5F-DED0-4794-CC1CF7A93E80}"/>
                </a:ext>
              </a:extLst>
            </p:cNvPr>
            <p:cNvSpPr/>
            <p:nvPr/>
          </p:nvSpPr>
          <p:spPr>
            <a:xfrm>
              <a:off x="179129" y="1279616"/>
              <a:ext cx="7200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CF50D35A-A10A-830B-E3A2-B4FC0762D0D8}"/>
                </a:ext>
              </a:extLst>
            </p:cNvPr>
            <p:cNvSpPr txBox="1"/>
            <p:nvPr/>
          </p:nvSpPr>
          <p:spPr>
            <a:xfrm>
              <a:off x="387469" y="1326113"/>
              <a:ext cx="15846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5</a:t>
              </a:r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주차 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(8.5 ~ 8.7)</a:t>
              </a:r>
            </a:p>
            <a:p>
              <a:pPr algn="l"/>
              <a:r>
                <a:rPr lang="ko-KR" altLang="en-US" sz="950" b="1" i="0" dirty="0">
                  <a:solidFill>
                    <a:schemeClr val="bg1"/>
                  </a:solidFill>
                  <a:latin typeface="Malgun Gothic"/>
                </a:rPr>
                <a:t>미래금융</a:t>
              </a:r>
              <a:r>
                <a:rPr lang="en-US" altLang="ko-KR" sz="950" b="1" i="0" dirty="0">
                  <a:solidFill>
                    <a:schemeClr val="bg1"/>
                  </a:solidFill>
                  <a:latin typeface="Malgun Gothic"/>
                </a:rPr>
                <a:t>: Digital Asset</a:t>
              </a:r>
              <a:endParaRPr sz="950" b="1" i="0" dirty="0">
                <a:solidFill>
                  <a:schemeClr val="bg1"/>
                </a:solidFill>
                <a:latin typeface="Malgun Gothic"/>
              </a:endParaRPr>
            </a:p>
          </p:txBody>
        </p:sp>
        <p:sp>
          <p:nvSpPr>
            <p:cNvPr id="308" name="Rectangle 16">
              <a:extLst>
                <a:ext uri="{FF2B5EF4-FFF2-40B4-BE49-F238E27FC236}">
                  <a16:creationId xmlns:a16="http://schemas.microsoft.com/office/drawing/2014/main" id="{AABB3B5A-08D8-987A-2C61-E0D9AF151373}"/>
                </a:ext>
              </a:extLst>
            </p:cNvPr>
            <p:cNvSpPr/>
            <p:nvPr/>
          </p:nvSpPr>
          <p:spPr>
            <a:xfrm>
              <a:off x="179129" y="19452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9" name="Rectangle 17">
              <a:extLst>
                <a:ext uri="{FF2B5EF4-FFF2-40B4-BE49-F238E27FC236}">
                  <a16:creationId xmlns:a16="http://schemas.microsoft.com/office/drawing/2014/main" id="{78BDE134-E64C-EAEE-9307-C3841299A94D}"/>
                </a:ext>
              </a:extLst>
            </p:cNvPr>
            <p:cNvSpPr/>
            <p:nvPr/>
          </p:nvSpPr>
          <p:spPr>
            <a:xfrm>
              <a:off x="179129" y="1945229"/>
              <a:ext cx="50292" cy="612000"/>
            </a:xfrm>
            <a:prstGeom prst="rect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0" name="Oval 18">
              <a:extLst>
                <a:ext uri="{FF2B5EF4-FFF2-40B4-BE49-F238E27FC236}">
                  <a16:creationId xmlns:a16="http://schemas.microsoft.com/office/drawing/2014/main" id="{5B11BB5A-EDB6-7AF4-E567-577FF98F7AFD}"/>
                </a:ext>
              </a:extLst>
            </p:cNvPr>
            <p:cNvSpPr/>
            <p:nvPr/>
          </p:nvSpPr>
          <p:spPr>
            <a:xfrm>
              <a:off x="281345" y="1971665"/>
              <a:ext cx="108000" cy="108000"/>
            </a:xfrm>
            <a:prstGeom prst="ellipse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0B661D03-0F35-9CAC-589A-BE14400E7431}"/>
                </a:ext>
              </a:extLst>
            </p:cNvPr>
            <p:cNvSpPr txBox="1"/>
            <p:nvPr/>
          </p:nvSpPr>
          <p:spPr>
            <a:xfrm>
              <a:off x="389813" y="1971685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강연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73C8A33E-EAA9-0060-3220-E80954C9861A}"/>
                </a:ext>
              </a:extLst>
            </p:cNvPr>
            <p:cNvSpPr txBox="1"/>
            <p:nvPr/>
          </p:nvSpPr>
          <p:spPr>
            <a:xfrm>
              <a:off x="245149" y="2169869"/>
              <a:ext cx="180000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전통금융과 미래금융의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브릿지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Data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를 기반으로 한 새로운 투자 전략</a:t>
              </a:r>
            </a:p>
          </p:txBody>
        </p:sp>
        <p:sp>
          <p:nvSpPr>
            <p:cNvPr id="313" name="Rectangle 21">
              <a:extLst>
                <a:ext uri="{FF2B5EF4-FFF2-40B4-BE49-F238E27FC236}">
                  <a16:creationId xmlns:a16="http://schemas.microsoft.com/office/drawing/2014/main" id="{EF241571-1B2B-B90D-8CA8-8D86419A92D2}"/>
                </a:ext>
              </a:extLst>
            </p:cNvPr>
            <p:cNvSpPr/>
            <p:nvPr/>
          </p:nvSpPr>
          <p:spPr>
            <a:xfrm>
              <a:off x="179129" y="6008984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4" name="Rectangle 22">
              <a:extLst>
                <a:ext uri="{FF2B5EF4-FFF2-40B4-BE49-F238E27FC236}">
                  <a16:creationId xmlns:a16="http://schemas.microsoft.com/office/drawing/2014/main" id="{08CCFA88-9E3F-E309-9FA5-A648F6380D74}"/>
                </a:ext>
              </a:extLst>
            </p:cNvPr>
            <p:cNvSpPr/>
            <p:nvPr/>
          </p:nvSpPr>
          <p:spPr>
            <a:xfrm>
              <a:off x="179129" y="6008984"/>
              <a:ext cx="50292" cy="6120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5" name="Oval 23">
              <a:extLst>
                <a:ext uri="{FF2B5EF4-FFF2-40B4-BE49-F238E27FC236}">
                  <a16:creationId xmlns:a16="http://schemas.microsoft.com/office/drawing/2014/main" id="{F2761AA3-E34D-EF60-8D08-91EA720B019B}"/>
                </a:ext>
              </a:extLst>
            </p:cNvPr>
            <p:cNvSpPr/>
            <p:nvPr/>
          </p:nvSpPr>
          <p:spPr>
            <a:xfrm>
              <a:off x="279469" y="6035420"/>
              <a:ext cx="108000" cy="108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303FBF6-7778-E352-B1D3-5DB741FD2E68}"/>
                </a:ext>
              </a:extLst>
            </p:cNvPr>
            <p:cNvSpPr txBox="1"/>
            <p:nvPr/>
          </p:nvSpPr>
          <p:spPr>
            <a:xfrm>
              <a:off x="387937" y="603544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밍글링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259A60EC-7CDD-465C-A5E9-93582514A215}"/>
                </a:ext>
              </a:extLst>
            </p:cNvPr>
            <p:cNvSpPr txBox="1"/>
            <p:nvPr/>
          </p:nvSpPr>
          <p:spPr>
            <a:xfrm>
              <a:off x="243273" y="6233624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방탈출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게임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(NHR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제안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18" name="Rectangle 26">
              <a:extLst>
                <a:ext uri="{FF2B5EF4-FFF2-40B4-BE49-F238E27FC236}">
                  <a16:creationId xmlns:a16="http://schemas.microsoft.com/office/drawing/2014/main" id="{8A93117E-C21E-ADEA-40A1-2B63E462BA18}"/>
                </a:ext>
              </a:extLst>
            </p:cNvPr>
            <p:cNvSpPr/>
            <p:nvPr/>
          </p:nvSpPr>
          <p:spPr>
            <a:xfrm>
              <a:off x="179129" y="26230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9" name="Rectangle 27">
              <a:extLst>
                <a:ext uri="{FF2B5EF4-FFF2-40B4-BE49-F238E27FC236}">
                  <a16:creationId xmlns:a16="http://schemas.microsoft.com/office/drawing/2014/main" id="{EB44C443-1DC7-720D-22D9-75703BAB632E}"/>
                </a:ext>
              </a:extLst>
            </p:cNvPr>
            <p:cNvSpPr/>
            <p:nvPr/>
          </p:nvSpPr>
          <p:spPr>
            <a:xfrm>
              <a:off x="179129" y="2623029"/>
              <a:ext cx="50292" cy="6120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0" name="Oval 28">
              <a:extLst>
                <a:ext uri="{FF2B5EF4-FFF2-40B4-BE49-F238E27FC236}">
                  <a16:creationId xmlns:a16="http://schemas.microsoft.com/office/drawing/2014/main" id="{D7BC75E0-6CE0-1F6F-C2EB-54FC64F765F5}"/>
                </a:ext>
              </a:extLst>
            </p:cNvPr>
            <p:cNvSpPr/>
            <p:nvPr/>
          </p:nvSpPr>
          <p:spPr>
            <a:xfrm>
              <a:off x="296188" y="2657693"/>
              <a:ext cx="108000" cy="1080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659E69CA-7160-F401-0967-3190C890E0FF}"/>
                </a:ext>
              </a:extLst>
            </p:cNvPr>
            <p:cNvSpPr txBox="1"/>
            <p:nvPr/>
          </p:nvSpPr>
          <p:spPr>
            <a:xfrm>
              <a:off x="390696" y="265073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토론 / 발표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C1E2A505-B22F-4C88-2F6A-372A689F0F11}"/>
                </a:ext>
              </a:extLst>
            </p:cNvPr>
            <p:cNvSpPr txBox="1"/>
            <p:nvPr/>
          </p:nvSpPr>
          <p:spPr>
            <a:xfrm>
              <a:off x="246032" y="2847669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현재 금융의 개선 포인트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미래 금융의 모습 토론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23" name="Rectangle 31">
              <a:extLst>
                <a:ext uri="{FF2B5EF4-FFF2-40B4-BE49-F238E27FC236}">
                  <a16:creationId xmlns:a16="http://schemas.microsoft.com/office/drawing/2014/main" id="{AE7F63A8-3AAD-B84C-92AD-65E167BEE037}"/>
                </a:ext>
              </a:extLst>
            </p:cNvPr>
            <p:cNvSpPr/>
            <p:nvPr/>
          </p:nvSpPr>
          <p:spPr>
            <a:xfrm>
              <a:off x="179129" y="5322010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4" name="Rectangle 32">
              <a:extLst>
                <a:ext uri="{FF2B5EF4-FFF2-40B4-BE49-F238E27FC236}">
                  <a16:creationId xmlns:a16="http://schemas.microsoft.com/office/drawing/2014/main" id="{44992B88-C8C3-B2DD-79E7-A928E382E197}"/>
                </a:ext>
              </a:extLst>
            </p:cNvPr>
            <p:cNvSpPr/>
            <p:nvPr/>
          </p:nvSpPr>
          <p:spPr>
            <a:xfrm>
              <a:off x="179129" y="5322010"/>
              <a:ext cx="50292" cy="612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5" name="Oval 33">
              <a:extLst>
                <a:ext uri="{FF2B5EF4-FFF2-40B4-BE49-F238E27FC236}">
                  <a16:creationId xmlns:a16="http://schemas.microsoft.com/office/drawing/2014/main" id="{A278BB32-0C6C-8D39-8B4E-F8A056604B3F}"/>
                </a:ext>
              </a:extLst>
            </p:cNvPr>
            <p:cNvSpPr/>
            <p:nvPr/>
          </p:nvSpPr>
          <p:spPr>
            <a:xfrm>
              <a:off x="283220" y="5348446"/>
              <a:ext cx="108000" cy="108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7A9B141C-A922-23AD-1277-FFEA4AD8299B}"/>
                </a:ext>
              </a:extLst>
            </p:cNvPr>
            <p:cNvSpPr txBox="1"/>
            <p:nvPr/>
          </p:nvSpPr>
          <p:spPr>
            <a:xfrm>
              <a:off x="391688" y="5348466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모의</a:t>
              </a:r>
              <a:r>
                <a:rPr sz="950" b="1" i="0" dirty="0">
                  <a:solidFill>
                    <a:srgbClr val="1E293B"/>
                  </a:solidFill>
                  <a:latin typeface="Malgun Gothic"/>
                </a:rPr>
                <a:t> </a:t>
              </a:r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투자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BC1D9BCC-ADA0-1AA3-CB15-50D538349871}"/>
                </a:ext>
              </a:extLst>
            </p:cNvPr>
            <p:cNvSpPr txBox="1"/>
            <p:nvPr/>
          </p:nvSpPr>
          <p:spPr>
            <a:xfrm>
              <a:off x="247024" y="5546650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4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주차 수익률 결과 발표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 대상 </a:t>
              </a:r>
              <a:r>
                <a:rPr lang="ko-KR" altLang="en-US" sz="800" dirty="0" err="1">
                  <a:solidFill>
                    <a:srgbClr val="64748B"/>
                  </a:solidFill>
                  <a:latin typeface="Malgun Gothic"/>
                </a:rPr>
                <a:t>리밸런싱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논의 후 제출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28" name="Rectangle 36">
              <a:extLst>
                <a:ext uri="{FF2B5EF4-FFF2-40B4-BE49-F238E27FC236}">
                  <a16:creationId xmlns:a16="http://schemas.microsoft.com/office/drawing/2014/main" id="{0ACC1FAD-AF35-DCA1-DBA8-CB9889794E67}"/>
                </a:ext>
              </a:extLst>
            </p:cNvPr>
            <p:cNvSpPr/>
            <p:nvPr/>
          </p:nvSpPr>
          <p:spPr>
            <a:xfrm>
              <a:off x="179129" y="3954107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9" name="Rectangle 37">
              <a:extLst>
                <a:ext uri="{FF2B5EF4-FFF2-40B4-BE49-F238E27FC236}">
                  <a16:creationId xmlns:a16="http://schemas.microsoft.com/office/drawing/2014/main" id="{976DDF83-02A4-8710-0D89-812B65310E3A}"/>
                </a:ext>
              </a:extLst>
            </p:cNvPr>
            <p:cNvSpPr/>
            <p:nvPr/>
          </p:nvSpPr>
          <p:spPr>
            <a:xfrm>
              <a:off x="179129" y="3954107"/>
              <a:ext cx="50292" cy="612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0" name="Oval 38">
              <a:extLst>
                <a:ext uri="{FF2B5EF4-FFF2-40B4-BE49-F238E27FC236}">
                  <a16:creationId xmlns:a16="http://schemas.microsoft.com/office/drawing/2014/main" id="{F707FE48-50FD-4F9B-57E8-D5CC1F3C417B}"/>
                </a:ext>
              </a:extLst>
            </p:cNvPr>
            <p:cNvSpPr/>
            <p:nvPr/>
          </p:nvSpPr>
          <p:spPr>
            <a:xfrm>
              <a:off x="288325" y="3980543"/>
              <a:ext cx="108000" cy="108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D6FDB732-6DC2-6CEA-C6DD-B1582497B9E2}"/>
                </a:ext>
              </a:extLst>
            </p:cNvPr>
            <p:cNvSpPr txBox="1"/>
            <p:nvPr/>
          </p:nvSpPr>
          <p:spPr>
            <a:xfrm>
              <a:off x="396793" y="398056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커리어 세션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24A99BA1-B3A5-2378-39EF-85B0E9129625}"/>
                </a:ext>
              </a:extLst>
            </p:cNvPr>
            <p:cNvSpPr txBox="1"/>
            <p:nvPr/>
          </p:nvSpPr>
          <p:spPr>
            <a:xfrm>
              <a:off x="252129" y="4178747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글로벌 금융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/>
                </a:rPr>
                <a:t>KFS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33" name="Rectangle 41">
              <a:extLst>
                <a:ext uri="{FF2B5EF4-FFF2-40B4-BE49-F238E27FC236}">
                  <a16:creationId xmlns:a16="http://schemas.microsoft.com/office/drawing/2014/main" id="{144B31A7-A2EF-1070-CE24-3BC387CCDE89}"/>
                </a:ext>
              </a:extLst>
            </p:cNvPr>
            <p:cNvSpPr/>
            <p:nvPr/>
          </p:nvSpPr>
          <p:spPr>
            <a:xfrm>
              <a:off x="179129" y="4640035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4" name="Rectangle 42">
              <a:extLst>
                <a:ext uri="{FF2B5EF4-FFF2-40B4-BE49-F238E27FC236}">
                  <a16:creationId xmlns:a16="http://schemas.microsoft.com/office/drawing/2014/main" id="{7DC0076C-5B6E-5CD2-DD35-E897B02C8A99}"/>
                </a:ext>
              </a:extLst>
            </p:cNvPr>
            <p:cNvSpPr/>
            <p:nvPr/>
          </p:nvSpPr>
          <p:spPr>
            <a:xfrm>
              <a:off x="179129" y="4640035"/>
              <a:ext cx="50292" cy="612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5" name="Oval 43">
              <a:extLst>
                <a:ext uri="{FF2B5EF4-FFF2-40B4-BE49-F238E27FC236}">
                  <a16:creationId xmlns:a16="http://schemas.microsoft.com/office/drawing/2014/main" id="{56A0B3DC-08D6-10F7-1F9E-386B688B0F99}"/>
                </a:ext>
              </a:extLst>
            </p:cNvPr>
            <p:cNvSpPr/>
            <p:nvPr/>
          </p:nvSpPr>
          <p:spPr>
            <a:xfrm>
              <a:off x="293429" y="4666471"/>
              <a:ext cx="108000" cy="1080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7CEEB6E5-505A-D7BF-A10E-5EA3C1F63C1E}"/>
                </a:ext>
              </a:extLst>
            </p:cNvPr>
            <p:cNvSpPr txBox="1"/>
            <p:nvPr/>
          </p:nvSpPr>
          <p:spPr>
            <a:xfrm>
              <a:off x="401897" y="4666491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팀 프로젝트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A5E315EF-1D76-52AC-B238-20877C7C1309}"/>
                </a:ext>
              </a:extLst>
            </p:cNvPr>
            <p:cNvSpPr txBox="1"/>
            <p:nvPr/>
          </p:nvSpPr>
          <p:spPr>
            <a:xfrm>
              <a:off x="257233" y="4864675"/>
              <a:ext cx="1800000" cy="3949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금융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관련 </a:t>
              </a:r>
              <a:r>
                <a:rPr lang="ko-KR" altLang="en-US" sz="800" b="1" dirty="0">
                  <a:solidFill>
                    <a:srgbClr val="FF0000"/>
                  </a:solidFill>
                  <a:highlight>
                    <a:srgbClr val="000000"/>
                  </a:highlight>
                  <a:latin typeface="Malgun Gothic"/>
                </a:rPr>
                <a:t>컨퍼런스</a:t>
              </a:r>
              <a:r>
                <a:rPr lang="ko-KR" altLang="en-US" sz="800" b="1" dirty="0">
                  <a:solidFill>
                    <a:srgbClr val="FF0000"/>
                  </a:solidFill>
                  <a:latin typeface="Malgun Gothic"/>
                </a:rPr>
                <a:t>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참석 후 리뷰 작성</a:t>
              </a:r>
            </a:p>
            <a:p>
              <a:pPr algn="l">
                <a:spcBef>
                  <a:spcPts val="150"/>
                </a:spcBef>
              </a:pP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38" name="Rectangle 46">
              <a:extLst>
                <a:ext uri="{FF2B5EF4-FFF2-40B4-BE49-F238E27FC236}">
                  <a16:creationId xmlns:a16="http://schemas.microsoft.com/office/drawing/2014/main" id="{FAB466AA-6DB9-869A-AE7A-67FD2642DC25}"/>
                </a:ext>
              </a:extLst>
            </p:cNvPr>
            <p:cNvSpPr/>
            <p:nvPr/>
          </p:nvSpPr>
          <p:spPr>
            <a:xfrm>
              <a:off x="179129" y="3280776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9" name="Rectangle 47">
              <a:extLst>
                <a:ext uri="{FF2B5EF4-FFF2-40B4-BE49-F238E27FC236}">
                  <a16:creationId xmlns:a16="http://schemas.microsoft.com/office/drawing/2014/main" id="{891622B0-A9BC-DF59-76FD-5710B8223C24}"/>
                </a:ext>
              </a:extLst>
            </p:cNvPr>
            <p:cNvSpPr/>
            <p:nvPr/>
          </p:nvSpPr>
          <p:spPr>
            <a:xfrm>
              <a:off x="179129" y="3280776"/>
              <a:ext cx="50292" cy="612000"/>
            </a:xfrm>
            <a:prstGeom prst="rect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0" name="Oval 48">
              <a:extLst>
                <a:ext uri="{FF2B5EF4-FFF2-40B4-BE49-F238E27FC236}">
                  <a16:creationId xmlns:a16="http://schemas.microsoft.com/office/drawing/2014/main" id="{180BC7DC-828E-8E99-4AE8-6C5345C7C04A}"/>
                </a:ext>
              </a:extLst>
            </p:cNvPr>
            <p:cNvSpPr/>
            <p:nvPr/>
          </p:nvSpPr>
          <p:spPr>
            <a:xfrm>
              <a:off x="303014" y="3315440"/>
              <a:ext cx="108000" cy="108000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1E2CC506-4B32-A05D-26EF-414E33E41BDB}"/>
                </a:ext>
              </a:extLst>
            </p:cNvPr>
            <p:cNvSpPr txBox="1"/>
            <p:nvPr/>
          </p:nvSpPr>
          <p:spPr>
            <a:xfrm>
              <a:off x="397522" y="330848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멘토링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D33D232B-01FA-5A85-8962-CD784CF84797}"/>
                </a:ext>
              </a:extLst>
            </p:cNvPr>
            <p:cNvSpPr txBox="1"/>
            <p:nvPr/>
          </p:nvSpPr>
          <p:spPr>
            <a:xfrm>
              <a:off x="252858" y="3505416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멘토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로테이션 및 </a:t>
              </a:r>
              <a:r>
                <a:rPr lang="en-US" sz="800" b="0" i="0" dirty="0">
                  <a:solidFill>
                    <a:srgbClr val="64748B"/>
                  </a:solidFill>
                  <a:latin typeface="Malgun Gothic"/>
                </a:rPr>
                <a:t>4</a:t>
              </a:r>
              <a:r>
                <a:rPr sz="800" b="0" i="0" dirty="0">
                  <a:solidFill>
                    <a:srgbClr val="64748B"/>
                  </a:solidFill>
                  <a:latin typeface="Malgun Gothic"/>
                </a:rPr>
                <a:t>회차 </a:t>
              </a:r>
              <a:r>
                <a:rPr sz="800" b="0" i="0" dirty="0" err="1">
                  <a:solidFill>
                    <a:srgbClr val="64748B"/>
                  </a:solidFill>
                  <a:latin typeface="Malgun Gothic"/>
                </a:rPr>
                <a:t>진행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E0F07FF4-A970-FE33-241D-23CE215D6D82}"/>
              </a:ext>
            </a:extLst>
          </p:cNvPr>
          <p:cNvGrpSpPr/>
          <p:nvPr/>
        </p:nvGrpSpPr>
        <p:grpSpPr>
          <a:xfrm>
            <a:off x="10143792" y="1285513"/>
            <a:ext cx="1908000" cy="5341368"/>
            <a:chOff x="179129" y="1279616"/>
            <a:chExt cx="1908000" cy="5341368"/>
          </a:xfrm>
        </p:grpSpPr>
        <p:sp>
          <p:nvSpPr>
            <p:cNvPr id="344" name="Rectangle 11">
              <a:extLst>
                <a:ext uri="{FF2B5EF4-FFF2-40B4-BE49-F238E27FC236}">
                  <a16:creationId xmlns:a16="http://schemas.microsoft.com/office/drawing/2014/main" id="{8E739504-348C-46FB-9D1B-E4BD3B43E535}"/>
                </a:ext>
              </a:extLst>
            </p:cNvPr>
            <p:cNvSpPr/>
            <p:nvPr/>
          </p:nvSpPr>
          <p:spPr>
            <a:xfrm>
              <a:off x="179129" y="1279616"/>
              <a:ext cx="1908000" cy="46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45" name="Rectangle 12">
              <a:extLst>
                <a:ext uri="{FF2B5EF4-FFF2-40B4-BE49-F238E27FC236}">
                  <a16:creationId xmlns:a16="http://schemas.microsoft.com/office/drawing/2014/main" id="{EAE8A9C6-4892-5881-0BAB-587CE98F8344}"/>
                </a:ext>
              </a:extLst>
            </p:cNvPr>
            <p:cNvSpPr/>
            <p:nvPr/>
          </p:nvSpPr>
          <p:spPr>
            <a:xfrm>
              <a:off x="179129" y="1279616"/>
              <a:ext cx="7200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84032176-8E22-3ABD-1802-C19CD36CF77F}"/>
                </a:ext>
              </a:extLst>
            </p:cNvPr>
            <p:cNvSpPr txBox="1"/>
            <p:nvPr/>
          </p:nvSpPr>
          <p:spPr>
            <a:xfrm>
              <a:off x="387469" y="1326113"/>
              <a:ext cx="15846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6</a:t>
              </a:r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주차 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(8.12 ~ 8.14)</a:t>
              </a:r>
            </a:p>
            <a:p>
              <a:pPr algn="l"/>
              <a:r>
                <a:rPr lang="ko-KR" altLang="en-US" sz="950" b="1" dirty="0">
                  <a:solidFill>
                    <a:schemeClr val="bg1"/>
                  </a:solidFill>
                  <a:latin typeface="Malgun Gothic"/>
                </a:rPr>
                <a:t>미래금융</a:t>
              </a:r>
              <a:r>
                <a:rPr lang="en-US" altLang="ko-KR" sz="950" b="1" dirty="0">
                  <a:solidFill>
                    <a:schemeClr val="bg1"/>
                  </a:solidFill>
                  <a:latin typeface="Malgun Gothic"/>
                </a:rPr>
                <a:t>: AI Camp</a:t>
              </a:r>
              <a:endParaRPr sz="950" b="1" i="0" dirty="0">
                <a:solidFill>
                  <a:schemeClr val="bg1"/>
                </a:solidFill>
                <a:latin typeface="Malgun Gothic"/>
              </a:endParaRPr>
            </a:p>
          </p:txBody>
        </p:sp>
        <p:sp>
          <p:nvSpPr>
            <p:cNvPr id="347" name="Rectangle 16">
              <a:extLst>
                <a:ext uri="{FF2B5EF4-FFF2-40B4-BE49-F238E27FC236}">
                  <a16:creationId xmlns:a16="http://schemas.microsoft.com/office/drawing/2014/main" id="{03B573F4-377C-1683-DEFB-E6281FD173F2}"/>
                </a:ext>
              </a:extLst>
            </p:cNvPr>
            <p:cNvSpPr/>
            <p:nvPr/>
          </p:nvSpPr>
          <p:spPr>
            <a:xfrm>
              <a:off x="179129" y="19452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8" name="Rectangle 17">
              <a:extLst>
                <a:ext uri="{FF2B5EF4-FFF2-40B4-BE49-F238E27FC236}">
                  <a16:creationId xmlns:a16="http://schemas.microsoft.com/office/drawing/2014/main" id="{AAC3CA74-32E8-CFCC-DEDC-452B3A645D6D}"/>
                </a:ext>
              </a:extLst>
            </p:cNvPr>
            <p:cNvSpPr/>
            <p:nvPr/>
          </p:nvSpPr>
          <p:spPr>
            <a:xfrm>
              <a:off x="179129" y="1945229"/>
              <a:ext cx="50292" cy="612000"/>
            </a:xfrm>
            <a:prstGeom prst="rect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9" name="Oval 18">
              <a:extLst>
                <a:ext uri="{FF2B5EF4-FFF2-40B4-BE49-F238E27FC236}">
                  <a16:creationId xmlns:a16="http://schemas.microsoft.com/office/drawing/2014/main" id="{A9104EA9-D488-1117-8624-CCDB2932A4A9}"/>
                </a:ext>
              </a:extLst>
            </p:cNvPr>
            <p:cNvSpPr/>
            <p:nvPr/>
          </p:nvSpPr>
          <p:spPr>
            <a:xfrm>
              <a:off x="281345" y="1971665"/>
              <a:ext cx="108000" cy="108000"/>
            </a:xfrm>
            <a:prstGeom prst="ellipse">
              <a:avLst/>
            </a:prstGeom>
            <a:solidFill>
              <a:srgbClr val="1E6F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A8B1883E-F6CF-F336-31D2-56DED38C2E17}"/>
                </a:ext>
              </a:extLst>
            </p:cNvPr>
            <p:cNvSpPr txBox="1"/>
            <p:nvPr/>
          </p:nvSpPr>
          <p:spPr>
            <a:xfrm>
              <a:off x="389813" y="1971685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강연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82A44E22-C18E-B9C7-2044-8F2EE64EE6BB}"/>
                </a:ext>
              </a:extLst>
            </p:cNvPr>
            <p:cNvSpPr txBox="1"/>
            <p:nvPr/>
          </p:nvSpPr>
          <p:spPr>
            <a:xfrm>
              <a:off x="245149" y="2169869"/>
              <a:ext cx="1800000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투자사에서 쓰고 있는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AI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자동화 사례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Agentic AI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활용 교육</a:t>
              </a:r>
            </a:p>
            <a:p>
              <a:pPr algn="l"/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비즈니스 매너 교육</a:t>
              </a:r>
              <a:endParaRPr lang="en-US"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52" name="Rectangle 21">
              <a:extLst>
                <a:ext uri="{FF2B5EF4-FFF2-40B4-BE49-F238E27FC236}">
                  <a16:creationId xmlns:a16="http://schemas.microsoft.com/office/drawing/2014/main" id="{89CA1A72-DB9A-6BFE-7BB3-0B5A63466099}"/>
                </a:ext>
              </a:extLst>
            </p:cNvPr>
            <p:cNvSpPr/>
            <p:nvPr/>
          </p:nvSpPr>
          <p:spPr>
            <a:xfrm>
              <a:off x="179129" y="6008984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3" name="Rectangle 22">
              <a:extLst>
                <a:ext uri="{FF2B5EF4-FFF2-40B4-BE49-F238E27FC236}">
                  <a16:creationId xmlns:a16="http://schemas.microsoft.com/office/drawing/2014/main" id="{ADBC04A8-C620-DE32-9220-EC6C4932F30C}"/>
                </a:ext>
              </a:extLst>
            </p:cNvPr>
            <p:cNvSpPr/>
            <p:nvPr/>
          </p:nvSpPr>
          <p:spPr>
            <a:xfrm>
              <a:off x="179129" y="6008984"/>
              <a:ext cx="50292" cy="6120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4" name="Oval 23">
              <a:extLst>
                <a:ext uri="{FF2B5EF4-FFF2-40B4-BE49-F238E27FC236}">
                  <a16:creationId xmlns:a16="http://schemas.microsoft.com/office/drawing/2014/main" id="{FB852FC8-02B8-F7D3-FF04-A1BA6CB51A8F}"/>
                </a:ext>
              </a:extLst>
            </p:cNvPr>
            <p:cNvSpPr/>
            <p:nvPr/>
          </p:nvSpPr>
          <p:spPr>
            <a:xfrm>
              <a:off x="279469" y="6035420"/>
              <a:ext cx="108000" cy="108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EA359450-C9F9-4205-E8EB-65A25717A7EA}"/>
                </a:ext>
              </a:extLst>
            </p:cNvPr>
            <p:cNvSpPr txBox="1"/>
            <p:nvPr/>
          </p:nvSpPr>
          <p:spPr>
            <a:xfrm>
              <a:off x="387937" y="603544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밍글링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6E7EF623-F03B-44EF-C0A5-1F73D66A4BEE}"/>
                </a:ext>
              </a:extLst>
            </p:cNvPr>
            <p:cNvSpPr txBox="1"/>
            <p:nvPr/>
          </p:nvSpPr>
          <p:spPr>
            <a:xfrm>
              <a:off x="243273" y="6233624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자유시간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&amp;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레크리에이션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mix</a:t>
              </a:r>
            </a:p>
          </p:txBody>
        </p:sp>
        <p:sp>
          <p:nvSpPr>
            <p:cNvPr id="357" name="Rectangle 26">
              <a:extLst>
                <a:ext uri="{FF2B5EF4-FFF2-40B4-BE49-F238E27FC236}">
                  <a16:creationId xmlns:a16="http://schemas.microsoft.com/office/drawing/2014/main" id="{1A679754-20FC-1C91-7A81-C00726B3EF73}"/>
                </a:ext>
              </a:extLst>
            </p:cNvPr>
            <p:cNvSpPr/>
            <p:nvPr/>
          </p:nvSpPr>
          <p:spPr>
            <a:xfrm>
              <a:off x="179129" y="2623029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8" name="Rectangle 27">
              <a:extLst>
                <a:ext uri="{FF2B5EF4-FFF2-40B4-BE49-F238E27FC236}">
                  <a16:creationId xmlns:a16="http://schemas.microsoft.com/office/drawing/2014/main" id="{B85FF1D7-6578-902E-D975-BDAE00D970B9}"/>
                </a:ext>
              </a:extLst>
            </p:cNvPr>
            <p:cNvSpPr/>
            <p:nvPr/>
          </p:nvSpPr>
          <p:spPr>
            <a:xfrm>
              <a:off x="179129" y="2623029"/>
              <a:ext cx="50292" cy="6120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9" name="Oval 28">
              <a:extLst>
                <a:ext uri="{FF2B5EF4-FFF2-40B4-BE49-F238E27FC236}">
                  <a16:creationId xmlns:a16="http://schemas.microsoft.com/office/drawing/2014/main" id="{B01980EB-68CA-9BBF-3F90-42A44D2937ED}"/>
                </a:ext>
              </a:extLst>
            </p:cNvPr>
            <p:cNvSpPr/>
            <p:nvPr/>
          </p:nvSpPr>
          <p:spPr>
            <a:xfrm>
              <a:off x="296188" y="2657693"/>
              <a:ext cx="108000" cy="108000"/>
            </a:xfrm>
            <a:prstGeom prst="ellipse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BDBE350F-A1BC-FE4A-8FB3-147BE80CC7FA}"/>
                </a:ext>
              </a:extLst>
            </p:cNvPr>
            <p:cNvSpPr txBox="1"/>
            <p:nvPr/>
          </p:nvSpPr>
          <p:spPr>
            <a:xfrm>
              <a:off x="390696" y="265073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토론 / 발표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C7CA83A4-1CAC-7F04-747C-AE295D0E9D49}"/>
                </a:ext>
              </a:extLst>
            </p:cNvPr>
            <p:cNvSpPr txBox="1"/>
            <p:nvPr/>
          </p:nvSpPr>
          <p:spPr>
            <a:xfrm>
              <a:off x="246032" y="2847669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AI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시대 경쟁력 강화 포인트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및 구체적 방안 도출</a:t>
              </a:r>
            </a:p>
          </p:txBody>
        </p:sp>
        <p:sp>
          <p:nvSpPr>
            <p:cNvPr id="362" name="Rectangle 31">
              <a:extLst>
                <a:ext uri="{FF2B5EF4-FFF2-40B4-BE49-F238E27FC236}">
                  <a16:creationId xmlns:a16="http://schemas.microsoft.com/office/drawing/2014/main" id="{603027FA-31E4-2055-D960-85B5585E9AFF}"/>
                </a:ext>
              </a:extLst>
            </p:cNvPr>
            <p:cNvSpPr/>
            <p:nvPr/>
          </p:nvSpPr>
          <p:spPr>
            <a:xfrm>
              <a:off x="179129" y="5322010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3" name="Rectangle 32">
              <a:extLst>
                <a:ext uri="{FF2B5EF4-FFF2-40B4-BE49-F238E27FC236}">
                  <a16:creationId xmlns:a16="http://schemas.microsoft.com/office/drawing/2014/main" id="{04E694F1-ED03-EEA9-A641-478FF255391F}"/>
                </a:ext>
              </a:extLst>
            </p:cNvPr>
            <p:cNvSpPr/>
            <p:nvPr/>
          </p:nvSpPr>
          <p:spPr>
            <a:xfrm>
              <a:off x="179129" y="5322010"/>
              <a:ext cx="50292" cy="612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4" name="Oval 33">
              <a:extLst>
                <a:ext uri="{FF2B5EF4-FFF2-40B4-BE49-F238E27FC236}">
                  <a16:creationId xmlns:a16="http://schemas.microsoft.com/office/drawing/2014/main" id="{CD9B806B-1A37-9FD9-56F3-1ADC9700B71E}"/>
                </a:ext>
              </a:extLst>
            </p:cNvPr>
            <p:cNvSpPr/>
            <p:nvPr/>
          </p:nvSpPr>
          <p:spPr>
            <a:xfrm>
              <a:off x="283220" y="5348446"/>
              <a:ext cx="108000" cy="108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9591D265-BE59-8707-DDEB-469D15FF3BB8}"/>
                </a:ext>
              </a:extLst>
            </p:cNvPr>
            <p:cNvSpPr txBox="1"/>
            <p:nvPr/>
          </p:nvSpPr>
          <p:spPr>
            <a:xfrm>
              <a:off x="391688" y="5348466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모의</a:t>
              </a:r>
              <a:r>
                <a:rPr sz="950" b="1" i="0" dirty="0">
                  <a:solidFill>
                    <a:srgbClr val="1E293B"/>
                  </a:solidFill>
                  <a:latin typeface="Malgun Gothic"/>
                </a:rPr>
                <a:t> </a:t>
              </a:r>
              <a:r>
                <a:rPr sz="950" b="1" i="0" dirty="0" err="1">
                  <a:solidFill>
                    <a:srgbClr val="1E293B"/>
                  </a:solidFill>
                  <a:latin typeface="Malgun Gothic"/>
                </a:rPr>
                <a:t>투자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E3C035FA-A92D-1109-2893-02BEC3E65ED3}"/>
                </a:ext>
              </a:extLst>
            </p:cNvPr>
            <p:cNvSpPr txBox="1"/>
            <p:nvPr/>
          </p:nvSpPr>
          <p:spPr>
            <a:xfrm>
              <a:off x="247024" y="5546650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5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주차 최종 수익률 합산 결과 발표</a:t>
              </a:r>
            </a:p>
          </p:txBody>
        </p:sp>
        <p:sp>
          <p:nvSpPr>
            <p:cNvPr id="367" name="Rectangle 36">
              <a:extLst>
                <a:ext uri="{FF2B5EF4-FFF2-40B4-BE49-F238E27FC236}">
                  <a16:creationId xmlns:a16="http://schemas.microsoft.com/office/drawing/2014/main" id="{A61A8662-0836-1093-EF38-A98F3882D4D8}"/>
                </a:ext>
              </a:extLst>
            </p:cNvPr>
            <p:cNvSpPr/>
            <p:nvPr/>
          </p:nvSpPr>
          <p:spPr>
            <a:xfrm>
              <a:off x="179129" y="3954107"/>
              <a:ext cx="1908000" cy="61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8" name="Rectangle 37">
              <a:extLst>
                <a:ext uri="{FF2B5EF4-FFF2-40B4-BE49-F238E27FC236}">
                  <a16:creationId xmlns:a16="http://schemas.microsoft.com/office/drawing/2014/main" id="{B00B761D-D4EF-7077-0926-99E6AAD86B36}"/>
                </a:ext>
              </a:extLst>
            </p:cNvPr>
            <p:cNvSpPr/>
            <p:nvPr/>
          </p:nvSpPr>
          <p:spPr>
            <a:xfrm>
              <a:off x="179129" y="3954107"/>
              <a:ext cx="50292" cy="612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9" name="Oval 38">
              <a:extLst>
                <a:ext uri="{FF2B5EF4-FFF2-40B4-BE49-F238E27FC236}">
                  <a16:creationId xmlns:a16="http://schemas.microsoft.com/office/drawing/2014/main" id="{BD99022E-B892-4F62-4724-DDA36B3FCC5B}"/>
                </a:ext>
              </a:extLst>
            </p:cNvPr>
            <p:cNvSpPr/>
            <p:nvPr/>
          </p:nvSpPr>
          <p:spPr>
            <a:xfrm>
              <a:off x="288325" y="3980543"/>
              <a:ext cx="108000" cy="108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95F8BA90-2EA5-9E58-D7B2-C43645056491}"/>
                </a:ext>
              </a:extLst>
            </p:cNvPr>
            <p:cNvSpPr txBox="1"/>
            <p:nvPr/>
          </p:nvSpPr>
          <p:spPr>
            <a:xfrm>
              <a:off x="396793" y="3980563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커리어 세션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5F0C012A-A703-73E5-452A-CFFFCDC8BA1C}"/>
                </a:ext>
              </a:extLst>
            </p:cNvPr>
            <p:cNvSpPr txBox="1"/>
            <p:nvPr/>
          </p:nvSpPr>
          <p:spPr>
            <a:xfrm>
              <a:off x="252129" y="4178747"/>
              <a:ext cx="180000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800" b="0" i="0" dirty="0">
                  <a:solidFill>
                    <a:srgbClr val="64748B"/>
                  </a:solidFill>
                  <a:latin typeface="Malgun Gothic"/>
                </a:rPr>
                <a:t>Camp </a:t>
              </a:r>
              <a:r>
                <a:rPr lang="ko-KR" altLang="en-US" sz="800" b="0" i="0" dirty="0">
                  <a:solidFill>
                    <a:srgbClr val="64748B"/>
                  </a:solidFill>
                  <a:latin typeface="Malgun Gothic"/>
                </a:rPr>
                <a:t>활동으로 </a:t>
              </a:r>
              <a:r>
                <a:rPr lang="ko-KR" altLang="en-US" sz="800" b="0" i="0" dirty="0" err="1">
                  <a:solidFill>
                    <a:srgbClr val="64748B"/>
                  </a:solidFill>
                  <a:latin typeface="Malgun Gothic"/>
                </a:rPr>
                <a:t>미진행</a:t>
              </a:r>
              <a:endParaRPr sz="800" b="0" i="0" dirty="0">
                <a:solidFill>
                  <a:srgbClr val="64748B"/>
                </a:solidFill>
                <a:latin typeface="Malgun Gothic"/>
              </a:endParaRPr>
            </a:p>
          </p:txBody>
        </p:sp>
        <p:sp>
          <p:nvSpPr>
            <p:cNvPr id="372" name="Rectangle 41">
              <a:extLst>
                <a:ext uri="{FF2B5EF4-FFF2-40B4-BE49-F238E27FC236}">
                  <a16:creationId xmlns:a16="http://schemas.microsoft.com/office/drawing/2014/main" id="{1DC3F631-CE94-9E11-DD0A-6C01B8D5D5A7}"/>
                </a:ext>
              </a:extLst>
            </p:cNvPr>
            <p:cNvSpPr/>
            <p:nvPr/>
          </p:nvSpPr>
          <p:spPr>
            <a:xfrm>
              <a:off x="179129" y="4640035"/>
              <a:ext cx="1908000" cy="61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3" name="Rectangle 42">
              <a:extLst>
                <a:ext uri="{FF2B5EF4-FFF2-40B4-BE49-F238E27FC236}">
                  <a16:creationId xmlns:a16="http://schemas.microsoft.com/office/drawing/2014/main" id="{A0549161-437A-CD56-B0C3-0CEF2ABB7628}"/>
                </a:ext>
              </a:extLst>
            </p:cNvPr>
            <p:cNvSpPr/>
            <p:nvPr/>
          </p:nvSpPr>
          <p:spPr>
            <a:xfrm>
              <a:off x="179129" y="4640035"/>
              <a:ext cx="50292" cy="6120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4" name="Oval 43">
              <a:extLst>
                <a:ext uri="{FF2B5EF4-FFF2-40B4-BE49-F238E27FC236}">
                  <a16:creationId xmlns:a16="http://schemas.microsoft.com/office/drawing/2014/main" id="{4D5E2C36-D7B2-9C68-EE83-DD99FD5EBB98}"/>
                </a:ext>
              </a:extLst>
            </p:cNvPr>
            <p:cNvSpPr/>
            <p:nvPr/>
          </p:nvSpPr>
          <p:spPr>
            <a:xfrm>
              <a:off x="293429" y="4666471"/>
              <a:ext cx="108000" cy="1080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90EC1CE8-741E-9323-F49F-8105408D7538}"/>
                </a:ext>
              </a:extLst>
            </p:cNvPr>
            <p:cNvSpPr txBox="1"/>
            <p:nvPr/>
          </p:nvSpPr>
          <p:spPr>
            <a:xfrm>
              <a:off x="401897" y="4666491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sz="950" b="1" i="0">
                  <a:solidFill>
                    <a:srgbClr val="1E293B"/>
                  </a:solidFill>
                  <a:latin typeface="Malgun Gothic"/>
                </a:rPr>
                <a:t>팀 프로젝트</a:t>
              </a: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4D2921B5-A35A-93D0-7A4B-D8014F5E34E4}"/>
                </a:ext>
              </a:extLst>
            </p:cNvPr>
            <p:cNvSpPr txBox="1"/>
            <p:nvPr/>
          </p:nvSpPr>
          <p:spPr>
            <a:xfrm>
              <a:off x="257233" y="4864675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실습한 솔루션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MVP 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고도화</a:t>
              </a:r>
            </a:p>
            <a:p>
              <a:pPr>
                <a:spcBef>
                  <a:spcPts val="150"/>
                </a:spcBef>
              </a:pP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추후 개인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/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팀 별도 시상 준비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</a:t>
              </a:r>
            </a:p>
          </p:txBody>
        </p:sp>
        <p:sp>
          <p:nvSpPr>
            <p:cNvPr id="377" name="Rectangle 46">
              <a:extLst>
                <a:ext uri="{FF2B5EF4-FFF2-40B4-BE49-F238E27FC236}">
                  <a16:creationId xmlns:a16="http://schemas.microsoft.com/office/drawing/2014/main" id="{4E842DA3-AABB-85F0-AAA8-A46D2D663D8D}"/>
                </a:ext>
              </a:extLst>
            </p:cNvPr>
            <p:cNvSpPr/>
            <p:nvPr/>
          </p:nvSpPr>
          <p:spPr>
            <a:xfrm>
              <a:off x="179129" y="3280776"/>
              <a:ext cx="1908000" cy="6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8" name="Rectangle 47">
              <a:extLst>
                <a:ext uri="{FF2B5EF4-FFF2-40B4-BE49-F238E27FC236}">
                  <a16:creationId xmlns:a16="http://schemas.microsoft.com/office/drawing/2014/main" id="{DD86FFA7-C4CB-E6D4-0D6F-4DD0BA9E7758}"/>
                </a:ext>
              </a:extLst>
            </p:cNvPr>
            <p:cNvSpPr/>
            <p:nvPr/>
          </p:nvSpPr>
          <p:spPr>
            <a:xfrm>
              <a:off x="179129" y="3280776"/>
              <a:ext cx="50292" cy="612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9" name="Oval 48">
              <a:extLst>
                <a:ext uri="{FF2B5EF4-FFF2-40B4-BE49-F238E27FC236}">
                  <a16:creationId xmlns:a16="http://schemas.microsoft.com/office/drawing/2014/main" id="{C40AFBB4-DEC9-0436-8D90-5F87D6FE2B85}"/>
                </a:ext>
              </a:extLst>
            </p:cNvPr>
            <p:cNvSpPr/>
            <p:nvPr/>
          </p:nvSpPr>
          <p:spPr>
            <a:xfrm>
              <a:off x="303014" y="3315440"/>
              <a:ext cx="108000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F374A999-43BD-753C-092C-8D024D0F0855}"/>
                </a:ext>
              </a:extLst>
            </p:cNvPr>
            <p:cNvSpPr txBox="1"/>
            <p:nvPr/>
          </p:nvSpPr>
          <p:spPr>
            <a:xfrm>
              <a:off x="397522" y="3308480"/>
              <a:ext cx="1440000" cy="146194"/>
            </a:xfrm>
            <a:prstGeom prst="rect">
              <a:avLst/>
            </a:prstGeom>
            <a:noFill/>
          </p:spPr>
          <p:txBody>
            <a:bodyPr wrap="square" lIns="36000" tIns="0" rIns="36000" bIns="0">
              <a:spAutoFit/>
            </a:bodyPr>
            <a:lstStyle/>
            <a:p>
              <a:pPr algn="l"/>
              <a:r>
                <a:rPr lang="ko-KR" altLang="en-US" sz="950" b="1" i="0" dirty="0">
                  <a:solidFill>
                    <a:srgbClr val="1E293B"/>
                  </a:solidFill>
                  <a:latin typeface="Malgun Gothic"/>
                </a:rPr>
                <a:t>실습</a:t>
              </a:r>
              <a:endParaRPr sz="950" b="1" i="0" dirty="0">
                <a:solidFill>
                  <a:srgbClr val="1E293B"/>
                </a:solidFill>
                <a:latin typeface="Malgun Gothic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0E2CA6A2-08BE-16F6-126E-9DD269716112}"/>
                </a:ext>
              </a:extLst>
            </p:cNvPr>
            <p:cNvSpPr txBox="1"/>
            <p:nvPr/>
          </p:nvSpPr>
          <p:spPr>
            <a:xfrm>
              <a:off x="252858" y="3505416"/>
              <a:ext cx="1800000" cy="27186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ko-KR" altLang="en-US" sz="800" b="1" dirty="0">
                  <a:solidFill>
                    <a:srgbClr val="FF0000"/>
                  </a:solidFill>
                  <a:latin typeface="Malgun Gothic"/>
                </a:rPr>
                <a:t>투자 업무 관련 효율화 솔루션</a:t>
              </a:r>
            </a:p>
            <a:p>
              <a:pPr>
                <a:spcBef>
                  <a:spcPts val="150"/>
                </a:spcBef>
              </a:pPr>
              <a:r>
                <a:rPr lang="ko-KR" altLang="en-US" sz="800" b="1" dirty="0">
                  <a:solidFill>
                    <a:srgbClr val="FF0000"/>
                  </a:solidFill>
                  <a:latin typeface="Malgun Gothic"/>
                </a:rPr>
                <a:t>기획 및 </a:t>
              </a:r>
              <a:r>
                <a:rPr lang="en-US" altLang="ko-KR" sz="800" b="1" dirty="0">
                  <a:solidFill>
                    <a:srgbClr val="FF0000"/>
                  </a:solidFill>
                  <a:latin typeface="Malgun Gothic"/>
                </a:rPr>
                <a:t>MVP </a:t>
              </a:r>
              <a:r>
                <a:rPr lang="ko-KR" altLang="en-US" sz="800" b="1" dirty="0">
                  <a:solidFill>
                    <a:srgbClr val="FF0000"/>
                  </a:solidFill>
                  <a:latin typeface="Malgun Gothic"/>
                </a:rPr>
                <a:t>구축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 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(</a:t>
              </a:r>
              <a:r>
                <a:rPr lang="ko-KR" altLang="en-US" sz="800" dirty="0">
                  <a:solidFill>
                    <a:srgbClr val="64748B"/>
                  </a:solidFill>
                  <a:latin typeface="Malgun Gothic"/>
                </a:rPr>
                <a:t>개인 부문 병행</a:t>
              </a:r>
              <a:r>
                <a:rPr lang="en-US" altLang="ko-KR" sz="800" dirty="0">
                  <a:solidFill>
                    <a:srgbClr val="64748B"/>
                  </a:solidFill>
                  <a:latin typeface="Malgun Gothic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2011680"/>
            <a:ext cx="5943600" cy="5943600"/>
          </a:xfrm>
          <a:prstGeom prst="ellipse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182880"/>
            <a:ext cx="3657600" cy="3657600"/>
          </a:xfrm>
          <a:prstGeom prst="ellipse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48640"/>
            <a:ext cx="3657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 dirty="0">
                <a:solidFill>
                  <a:srgbClr val="12254A"/>
                </a:solidFill>
                <a:latin typeface="Malgun Gothic"/>
              </a:rPr>
              <a:t>0</a:t>
            </a:r>
            <a:r>
              <a:rPr lang="en-US" sz="13000" b="1" i="0" dirty="0">
                <a:solidFill>
                  <a:srgbClr val="12254A"/>
                </a:solidFill>
                <a:latin typeface="Malgun Gothic"/>
              </a:rPr>
              <a:t>2</a:t>
            </a:r>
            <a:endParaRPr sz="13000" b="1" i="0" dirty="0">
              <a:solidFill>
                <a:srgbClr val="12254A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Malgun Gothic"/>
              </a:rPr>
              <a:t>정기활동</a:t>
            </a:r>
            <a:endParaRPr sz="4000" b="1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150"/>
              </a:spcBef>
            </a:pPr>
            <a:r>
              <a:rPr sz="4000" b="1" i="0" dirty="0">
                <a:solidFill>
                  <a:srgbClr val="FFFFFF"/>
                </a:solidFill>
                <a:latin typeface="Malgun Gothic"/>
              </a:rPr>
              <a:t>4회 </a:t>
            </a:r>
            <a:r>
              <a:rPr sz="4000" b="1" i="0" dirty="0" err="1">
                <a:solidFill>
                  <a:srgbClr val="FFFFFF"/>
                </a:solidFill>
                <a:latin typeface="Malgun Gothic"/>
              </a:rPr>
              <a:t>진행</a:t>
            </a:r>
            <a:endParaRPr sz="40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매월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 1회, 팀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프로젝트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발표와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강연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,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멘토링으로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지속적인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성장과</a:t>
            </a:r>
            <a:r>
              <a:rPr sz="1300" b="0" i="0" dirty="0">
                <a:solidFill>
                  <a:srgbClr val="93C5FD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93C5FD"/>
                </a:solidFill>
                <a:latin typeface="Malgun Gothic"/>
              </a:rPr>
              <a:t>네트워킹</a:t>
            </a:r>
            <a:endParaRPr sz="1300" b="0" i="0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411480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4434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Malgun Gothic"/>
              </a:rPr>
              <a:t>일정   2026. 09 ~ 2026.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64592"/>
            <a:ext cx="1463040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08592" y="164592"/>
            <a:ext cx="2743200" cy="2468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FC6E64-1540-82D3-BDE3-165AD09E2ACE}"/>
              </a:ext>
            </a:extLst>
          </p:cNvPr>
          <p:cNvSpPr txBox="1"/>
          <p:nvPr/>
        </p:nvSpPr>
        <p:spPr>
          <a:xfrm>
            <a:off x="149575" y="343928"/>
            <a:ext cx="749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FFFFFF"/>
                </a:solidFill>
                <a:latin typeface="+mj-ea"/>
                <a:ea typeface="+mj-ea"/>
              </a:rPr>
              <a:t>정기활동</a:t>
            </a:r>
            <a:r>
              <a:rPr sz="1800" b="1" i="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altLang="en-US" sz="1800" b="1" i="0" dirty="0">
                <a:solidFill>
                  <a:srgbClr val="FFFFFF"/>
                </a:solidFill>
                <a:latin typeface="+mj-ea"/>
                <a:ea typeface="+mj-ea"/>
              </a:rPr>
              <a:t>과정 커리큘럼 요약</a:t>
            </a:r>
            <a:endParaRPr sz="1800" b="1" i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38" name="Google Shape;185;p20" descr="image.png">
            <a:extLst>
              <a:ext uri="{FF2B5EF4-FFF2-40B4-BE49-F238E27FC236}">
                <a16:creationId xmlns:a16="http://schemas.microsoft.com/office/drawing/2014/main" id="{184BED29-17EA-EF49-2E67-8EA0D29626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834" y="1435349"/>
            <a:ext cx="522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94;p20">
            <a:extLst>
              <a:ext uri="{FF2B5EF4-FFF2-40B4-BE49-F238E27FC236}">
                <a16:creationId xmlns:a16="http://schemas.microsoft.com/office/drawing/2014/main" id="{6B140751-947E-3A50-E8AB-BA27A84F7E63}"/>
              </a:ext>
            </a:extLst>
          </p:cNvPr>
          <p:cNvSpPr txBox="1"/>
          <p:nvPr/>
        </p:nvSpPr>
        <p:spPr>
          <a:xfrm>
            <a:off x="540834" y="1635374"/>
            <a:ext cx="486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9</a:t>
            </a:r>
            <a:r>
              <a:rPr lang="ko-KR" altLang="en-US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월 정기활동 </a:t>
            </a:r>
            <a:r>
              <a:rPr lang="en-US" altLang="ko-KR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(9.18)</a:t>
            </a:r>
            <a:endParaRPr sz="2400" b="1" dirty="0">
              <a:latin typeface="+mn-ea"/>
            </a:endParaRPr>
          </a:p>
        </p:txBody>
      </p:sp>
      <p:sp>
        <p:nvSpPr>
          <p:cNvPr id="40" name="Google Shape;195;p20">
            <a:extLst>
              <a:ext uri="{FF2B5EF4-FFF2-40B4-BE49-F238E27FC236}">
                <a16:creationId xmlns:a16="http://schemas.microsoft.com/office/drawing/2014/main" id="{515C993C-5547-08CC-B722-9260C269FCC0}"/>
              </a:ext>
            </a:extLst>
          </p:cNvPr>
          <p:cNvSpPr txBox="1"/>
          <p:nvPr/>
        </p:nvSpPr>
        <p:spPr>
          <a:xfrm>
            <a:off x="540834" y="2135917"/>
            <a:ext cx="48600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n-ea"/>
                <a:cs typeface="Lato"/>
                <a:sym typeface="Lato"/>
              </a:rPr>
              <a:t>투자 </a:t>
            </a:r>
            <a:r>
              <a:rPr lang="ko-KR" altLang="en-US" sz="1400" dirty="0" err="1">
                <a:solidFill>
                  <a:schemeClr val="accent6">
                    <a:lumMod val="75000"/>
                  </a:schemeClr>
                </a:solidFill>
                <a:latin typeface="+mn-ea"/>
                <a:cs typeface="Lato"/>
                <a:sym typeface="Lato"/>
              </a:rPr>
              <a:t>대상으로서의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n-ea"/>
                <a:cs typeface="Lato"/>
                <a:sym typeface="Lato"/>
              </a:rPr>
              <a:t> 산업계 이해</a:t>
            </a:r>
            <a:endParaRPr lang="en-US" altLang="ko-KR" sz="1400" dirty="0">
              <a:solidFill>
                <a:schemeClr val="accent6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토론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/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발표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AI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팀프로젝트 결과물 발표</a:t>
            </a:r>
            <a:endParaRPr lang="en-US" altLang="ko-KR" sz="1400" dirty="0">
              <a:solidFill>
                <a:srgbClr val="CCCCCC"/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강연 주제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창업 생태계</a:t>
            </a:r>
            <a:endParaRPr lang="en-US" altLang="ko-KR" sz="1400" dirty="0">
              <a:solidFill>
                <a:srgbClr val="CCCCCC"/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팀프로젝트 부여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조 구성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,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산업분석 보고서 작성</a:t>
            </a:r>
            <a:endParaRPr lang="en-US" altLang="ko-KR" sz="1400" dirty="0">
              <a:solidFill>
                <a:srgbClr val="CCCCCC"/>
              </a:solidFill>
              <a:latin typeface="+mn-ea"/>
              <a:cs typeface="Lato"/>
              <a:sym typeface="Lato"/>
            </a:endParaRPr>
          </a:p>
        </p:txBody>
      </p:sp>
      <p:pic>
        <p:nvPicPr>
          <p:cNvPr id="41" name="Google Shape;185;p20" descr="image.png">
            <a:extLst>
              <a:ext uri="{FF2B5EF4-FFF2-40B4-BE49-F238E27FC236}">
                <a16:creationId xmlns:a16="http://schemas.microsoft.com/office/drawing/2014/main" id="{D3F2E99E-9582-B768-909F-2626396FFD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8274" y="1435349"/>
            <a:ext cx="522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94;p20">
            <a:extLst>
              <a:ext uri="{FF2B5EF4-FFF2-40B4-BE49-F238E27FC236}">
                <a16:creationId xmlns:a16="http://schemas.microsoft.com/office/drawing/2014/main" id="{9974D872-3620-281E-F558-9EF315DCB307}"/>
              </a:ext>
            </a:extLst>
          </p:cNvPr>
          <p:cNvSpPr txBox="1"/>
          <p:nvPr/>
        </p:nvSpPr>
        <p:spPr>
          <a:xfrm>
            <a:off x="6628274" y="1635374"/>
            <a:ext cx="486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10</a:t>
            </a:r>
            <a:r>
              <a:rPr lang="ko-KR" altLang="en-US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월 정기활동 </a:t>
            </a:r>
            <a:r>
              <a:rPr lang="en-US" altLang="ko-KR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(10</a:t>
            </a:r>
            <a:r>
              <a:rPr lang="en-US" altLang="ko-KR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.30</a:t>
            </a:r>
            <a:r>
              <a:rPr lang="en-US" altLang="ko-KR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)</a:t>
            </a:r>
            <a:endParaRPr sz="2400" dirty="0">
              <a:latin typeface="+mn-ea"/>
            </a:endParaRPr>
          </a:p>
        </p:txBody>
      </p:sp>
      <p:sp>
        <p:nvSpPr>
          <p:cNvPr id="43" name="Google Shape;195;p20">
            <a:extLst>
              <a:ext uri="{FF2B5EF4-FFF2-40B4-BE49-F238E27FC236}">
                <a16:creationId xmlns:a16="http://schemas.microsoft.com/office/drawing/2014/main" id="{5C34B98E-1311-2AFC-3FF1-7782C4B3B415}"/>
              </a:ext>
            </a:extLst>
          </p:cNvPr>
          <p:cNvSpPr txBox="1"/>
          <p:nvPr/>
        </p:nvSpPr>
        <p:spPr>
          <a:xfrm>
            <a:off x="6628274" y="2135917"/>
            <a:ext cx="48600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n-ea"/>
                <a:cs typeface="Lato"/>
                <a:sym typeface="Lato"/>
              </a:rPr>
              <a:t>상장 기업 투자 및 주주 권리</a:t>
            </a:r>
            <a:endParaRPr lang="en-US" altLang="ko-KR" sz="1400" dirty="0">
              <a:solidFill>
                <a:schemeClr val="accent6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토론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/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발표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산업 분석 결과 팀별 발표 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+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토론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(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주제 미정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)</a:t>
            </a: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강연 주제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행동주의 펀드 </a:t>
            </a:r>
            <a:endParaRPr lang="en-US" altLang="ko-KR" sz="1400" dirty="0">
              <a:solidFill>
                <a:srgbClr val="CCCCCC"/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팀프로젝트 부여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상장 기업 분석 보고서 작성</a:t>
            </a:r>
            <a:endParaRPr sz="1400" dirty="0">
              <a:latin typeface="+mn-ea"/>
            </a:endParaRPr>
          </a:p>
        </p:txBody>
      </p:sp>
      <p:pic>
        <p:nvPicPr>
          <p:cNvPr id="44" name="Google Shape;185;p20" descr="image.png">
            <a:extLst>
              <a:ext uri="{FF2B5EF4-FFF2-40B4-BE49-F238E27FC236}">
                <a16:creationId xmlns:a16="http://schemas.microsoft.com/office/drawing/2014/main" id="{A0E444CD-58B2-B642-8072-191E02AAF8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2899" y="3686057"/>
            <a:ext cx="522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194;p20">
            <a:extLst>
              <a:ext uri="{FF2B5EF4-FFF2-40B4-BE49-F238E27FC236}">
                <a16:creationId xmlns:a16="http://schemas.microsoft.com/office/drawing/2014/main" id="{4391BDAA-4408-A1E1-A836-5545D129BC30}"/>
              </a:ext>
            </a:extLst>
          </p:cNvPr>
          <p:cNvSpPr txBox="1"/>
          <p:nvPr/>
        </p:nvSpPr>
        <p:spPr>
          <a:xfrm>
            <a:off x="6652899" y="3886082"/>
            <a:ext cx="486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12</a:t>
            </a:r>
            <a:r>
              <a:rPr lang="ko-KR" altLang="en-US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월 정기활동 </a:t>
            </a:r>
            <a:r>
              <a:rPr lang="en-US" altLang="ko-KR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(12</a:t>
            </a:r>
            <a:r>
              <a:rPr lang="en-US" altLang="ko-KR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.23</a:t>
            </a:r>
            <a:r>
              <a:rPr lang="en-US" altLang="ko-KR" sz="2400" b="1" i="0" u="none" strike="noStrike" cap="none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)</a:t>
            </a:r>
            <a:endParaRPr sz="2400" dirty="0">
              <a:latin typeface="+mn-ea"/>
            </a:endParaRPr>
          </a:p>
        </p:txBody>
      </p:sp>
      <p:sp>
        <p:nvSpPr>
          <p:cNvPr id="46" name="Google Shape;195;p20">
            <a:extLst>
              <a:ext uri="{FF2B5EF4-FFF2-40B4-BE49-F238E27FC236}">
                <a16:creationId xmlns:a16="http://schemas.microsoft.com/office/drawing/2014/main" id="{0A820B93-BB1E-D021-4C25-54F8D2FF71E6}"/>
              </a:ext>
            </a:extLst>
          </p:cNvPr>
          <p:cNvSpPr txBox="1"/>
          <p:nvPr/>
        </p:nvSpPr>
        <p:spPr>
          <a:xfrm>
            <a:off x="6652899" y="4386625"/>
            <a:ext cx="4860000" cy="128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ea"/>
                <a:cs typeface="Lato"/>
                <a:sym typeface="Lato"/>
              </a:rPr>
              <a:t>멤버들의 수요에 따른 주제 선정</a:t>
            </a:r>
            <a:endParaRPr lang="en-US" altLang="ko-KR" sz="1400" b="0" i="0" u="none" strike="noStrike" cap="none" dirty="0">
              <a:solidFill>
                <a:schemeClr val="accent6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발표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/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토론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: AI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최종 결과물 발표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강연 주제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미정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팀프로젝트 부여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  <a:cs typeface="Lato"/>
                <a:sym typeface="Lato"/>
              </a:rPr>
              <a:t>비상장 스타트업 투자심사보고서 작성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연말 네트워킹</a:t>
            </a:r>
            <a:endParaRPr sz="14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47" name="Google Shape;185;p20" descr="image.png">
            <a:extLst>
              <a:ext uri="{FF2B5EF4-FFF2-40B4-BE49-F238E27FC236}">
                <a16:creationId xmlns:a16="http://schemas.microsoft.com/office/drawing/2014/main" id="{5A8B3DB1-DB78-E019-3DAF-7E772CCDA1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834" y="3686057"/>
            <a:ext cx="522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194;p20">
            <a:extLst>
              <a:ext uri="{FF2B5EF4-FFF2-40B4-BE49-F238E27FC236}">
                <a16:creationId xmlns:a16="http://schemas.microsoft.com/office/drawing/2014/main" id="{A6841135-AB1E-EF66-DDCE-0150F15AD707}"/>
              </a:ext>
            </a:extLst>
          </p:cNvPr>
          <p:cNvSpPr txBox="1"/>
          <p:nvPr/>
        </p:nvSpPr>
        <p:spPr>
          <a:xfrm>
            <a:off x="540834" y="3886082"/>
            <a:ext cx="486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11</a:t>
            </a:r>
            <a:r>
              <a:rPr lang="ko-KR" altLang="en-US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월 정기활동</a:t>
            </a:r>
            <a:r>
              <a:rPr lang="en-US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 (11.27</a:t>
            </a:r>
            <a:r>
              <a:rPr lang="en-US" altLang="ko-KR" sz="2400" b="1" dirty="0">
                <a:solidFill>
                  <a:srgbClr val="FF6B00"/>
                </a:solidFill>
                <a:latin typeface="+mn-ea"/>
                <a:cs typeface="Poppins"/>
                <a:sym typeface="Poppins"/>
              </a:rPr>
              <a:t>)</a:t>
            </a:r>
            <a:endParaRPr sz="2400" dirty="0">
              <a:latin typeface="+mn-ea"/>
            </a:endParaRPr>
          </a:p>
        </p:txBody>
      </p:sp>
      <p:sp>
        <p:nvSpPr>
          <p:cNvPr id="49" name="Google Shape;195;p20">
            <a:extLst>
              <a:ext uri="{FF2B5EF4-FFF2-40B4-BE49-F238E27FC236}">
                <a16:creationId xmlns:a16="http://schemas.microsoft.com/office/drawing/2014/main" id="{59EB4866-9571-20FD-1D56-3CE2847855C1}"/>
              </a:ext>
            </a:extLst>
          </p:cNvPr>
          <p:cNvSpPr txBox="1"/>
          <p:nvPr/>
        </p:nvSpPr>
        <p:spPr>
          <a:xfrm>
            <a:off x="540834" y="4386625"/>
            <a:ext cx="48600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ea"/>
                <a:cs typeface="Lato"/>
                <a:sym typeface="Lato"/>
              </a:rPr>
              <a:t>글로벌 금융 이해와 국내 특징 이해</a:t>
            </a:r>
            <a:endParaRPr lang="en-US" altLang="ko-KR" sz="1400" dirty="0">
              <a:solidFill>
                <a:schemeClr val="accent6">
                  <a:lumMod val="75000"/>
                </a:schemeClr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토론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/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발표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상장사 분석 보고 발표 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/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국내 금융 환경 토론</a:t>
            </a:r>
            <a:endParaRPr lang="en-US" altLang="ko-KR" sz="1400" dirty="0">
              <a:solidFill>
                <a:srgbClr val="CCCCCC"/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강연 주제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글로벌 금융 환경</a:t>
            </a:r>
            <a:endParaRPr lang="en-US" altLang="ko-KR" sz="1400" dirty="0">
              <a:solidFill>
                <a:srgbClr val="CCCCCC"/>
              </a:solidFill>
              <a:latin typeface="+mn-ea"/>
              <a:cs typeface="Lato"/>
              <a:sym typeface="Lato"/>
            </a:endParaRPr>
          </a:p>
          <a:p>
            <a:pPr marL="285750" marR="0" lvl="0" indent="-285750" rtl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팀프로젝트 부여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: 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해외 기업분석 보고서 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(IR</a:t>
            </a:r>
            <a:r>
              <a:rPr lang="ko-KR" altLang="en-US" sz="1400" dirty="0" err="1">
                <a:solidFill>
                  <a:srgbClr val="CCCCCC"/>
                </a:solidFill>
                <a:latin typeface="+mn-ea"/>
                <a:cs typeface="Lato"/>
                <a:sym typeface="Lato"/>
              </a:rPr>
              <a:t>덱</a:t>
            </a:r>
            <a:r>
              <a:rPr lang="ko-KR" altLang="en-US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 제공</a:t>
            </a:r>
            <a:r>
              <a:rPr lang="en-US" altLang="ko-KR" sz="1400" dirty="0">
                <a:solidFill>
                  <a:srgbClr val="CCCCCC"/>
                </a:solidFill>
                <a:latin typeface="+mn-ea"/>
                <a:cs typeface="Lato"/>
                <a:sym typeface="Lato"/>
              </a:rPr>
              <a:t>)</a:t>
            </a:r>
            <a:endParaRPr sz="1400" dirty="0">
              <a:latin typeface="+mn-ea"/>
            </a:endParaRPr>
          </a:p>
        </p:txBody>
      </p:sp>
      <p:sp>
        <p:nvSpPr>
          <p:cNvPr id="50" name="Google Shape;194;p20">
            <a:extLst>
              <a:ext uri="{FF2B5EF4-FFF2-40B4-BE49-F238E27FC236}">
                <a16:creationId xmlns:a16="http://schemas.microsoft.com/office/drawing/2014/main" id="{70BACC62-8C2A-42EA-9C4C-353CF6171AC9}"/>
              </a:ext>
            </a:extLst>
          </p:cNvPr>
          <p:cNvSpPr txBox="1"/>
          <p:nvPr/>
        </p:nvSpPr>
        <p:spPr>
          <a:xfrm>
            <a:off x="848040" y="5983262"/>
            <a:ext cx="4320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 dirty="0">
                <a:latin typeface="+mn-ea"/>
                <a:cs typeface="Poppins"/>
                <a:sym typeface="Poppins"/>
              </a:rPr>
              <a:t>*</a:t>
            </a:r>
            <a:r>
              <a:rPr lang="ko-KR" altLang="en-US" sz="1200" b="1" dirty="0">
                <a:latin typeface="+mn-ea"/>
                <a:cs typeface="Poppins"/>
                <a:sym typeface="Poppins"/>
              </a:rPr>
              <a:t>매월 멘토링</a:t>
            </a:r>
            <a:r>
              <a:rPr lang="en-US" altLang="ko-KR" sz="1200" b="1" dirty="0">
                <a:latin typeface="+mn-ea"/>
                <a:cs typeface="Poppins"/>
                <a:sym typeface="Poppins"/>
              </a:rPr>
              <a:t>, </a:t>
            </a:r>
            <a:r>
              <a:rPr lang="ko-KR" altLang="en-US" sz="1200" b="1" dirty="0">
                <a:latin typeface="+mn-ea"/>
                <a:cs typeface="Poppins"/>
                <a:sym typeface="Poppins"/>
              </a:rPr>
              <a:t>모의투자 정기 진행</a:t>
            </a:r>
            <a:endParaRPr sz="12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927</Words>
  <Application>Microsoft Office PowerPoint</Application>
  <PresentationFormat>사용자 지정</PresentationFormat>
  <Paragraphs>210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민준 정</cp:lastModifiedBy>
  <cp:revision>3</cp:revision>
  <cp:lastPrinted>2026-04-24T01:49:52Z</cp:lastPrinted>
  <dcterms:created xsi:type="dcterms:W3CDTF">2013-01-27T09:14:16Z</dcterms:created>
  <dcterms:modified xsi:type="dcterms:W3CDTF">2026-04-24T04:46:09Z</dcterms:modified>
  <cp:category/>
</cp:coreProperties>
</file>