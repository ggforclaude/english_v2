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2377440"/>
            <a:ext cx="10332720" cy="2011680"/>
          </a:xfrm>
          <a:prstGeom prst="rect">
            <a:avLst/>
          </a:prstGeom>
          <a:noFill/>
        </p:spPr>
        <p:txBody>
          <a:bodyPr wrap="square">
            <a:spAutoFit/>
          </a:bodyPr>
          <a:lstStyle/>
          <a:p>
            <a:r>
              <a:rPr sz="3200" b="1">
                <a:solidFill>
                  <a:srgbClr val="FFFFFF"/>
                </a:solidFill>
                <a:latin typeface="맑은 고딕"/>
                <a:ea typeface="맑은 고딕"/>
              </a:rPr>
              <a:t>드림플러스 인베스터클럽 2기 — 조별 AI 프로젝트 평가 결과보고서</a:t>
            </a:r>
          </a:p>
          <a:p>
            <a:pPr>
              <a:spcBef>
                <a:spcPts val="1600"/>
              </a:spcBef>
            </a:pPr>
            <a:r>
              <a:rPr sz="1600" b="0">
                <a:solidFill>
                  <a:srgbClr val="C8D4E8"/>
                </a:solidFill>
                <a:latin typeface="맑은 고딕"/>
                <a:ea typeface="맑은 고딕"/>
              </a:rPr>
              <a:t>AI 활용 투자 리서치 파이프라인 평가 (Team1~Team5)</a:t>
            </a:r>
          </a:p>
          <a:p>
            <a:pPr>
              <a:spcBef>
                <a:spcPts val="3000"/>
              </a:spcBef>
            </a:pPr>
            <a:r>
              <a:rPr sz="1300" b="0">
                <a:solidFill>
                  <a:srgbClr val="9AA8C4"/>
                </a:solidFill>
                <a:latin typeface="맑은 고딕"/>
                <a:ea typeface="맑은 고딕"/>
              </a:rPr>
              <a:t>2026년 8월 18일</a:t>
            </a:r>
          </a:p>
        </p:txBody>
      </p:sp>
      <p:sp>
        <p:nvSpPr>
          <p:cNvPr id="3" name="Rectangle 2"/>
          <p:cNvSpPr/>
          <p:nvPr/>
        </p:nvSpPr>
        <p:spPr>
          <a:xfrm>
            <a:off x="914400" y="2240280"/>
            <a:ext cx="2011680" cy="38100"/>
          </a:xfrm>
          <a:prstGeom prst="rect">
            <a:avLst/>
          </a:prstGeom>
          <a:solidFill>
            <a:srgbClr val="2E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1. 평가 개요</a:t>
            </a:r>
          </a:p>
        </p:txBody>
      </p:sp>
      <p:sp>
        <p:nvSpPr>
          <p:cNvPr id="4" name="TextBox 3"/>
          <p:cNvSpPr txBox="1"/>
          <p:nvPr/>
        </p:nvSpPr>
        <p:spPr>
          <a:xfrm>
            <a:off x="548640" y="1280160"/>
            <a:ext cx="10972800" cy="365760"/>
          </a:xfrm>
          <a:prstGeom prst="rect">
            <a:avLst/>
          </a:prstGeom>
          <a:noFill/>
        </p:spPr>
        <p:txBody>
          <a:bodyPr wrap="square">
            <a:spAutoFit/>
          </a:bodyPr>
          <a:lstStyle/>
          <a:p>
            <a:pPr algn="l"/>
            <a:r>
              <a:rPr sz="1500" b="1">
                <a:solidFill>
                  <a:srgbClr val="2E5A9E"/>
                </a:solidFill>
                <a:latin typeface="맑은 고딕"/>
                <a:ea typeface="맑은 고딕"/>
              </a:rPr>
              <a:t>목적</a:t>
            </a:r>
          </a:p>
        </p:txBody>
      </p:sp>
      <p:sp>
        <p:nvSpPr>
          <p:cNvPr id="5" name="TextBox 4"/>
          <p:cNvSpPr txBox="1"/>
          <p:nvPr/>
        </p:nvSpPr>
        <p:spPr>
          <a:xfrm>
            <a:off x="548640" y="1600200"/>
            <a:ext cx="11064240" cy="914400"/>
          </a:xfrm>
          <a:prstGeom prst="rect">
            <a:avLst/>
          </a:prstGeom>
          <a:noFill/>
        </p:spPr>
        <p:txBody>
          <a:bodyPr wrap="square">
            <a:spAutoFit/>
          </a:bodyPr>
          <a:lstStyle/>
          <a:p>
            <a:pPr algn="l"/>
            <a:r>
              <a:rPr sz="1300" b="0">
                <a:solidFill>
                  <a:srgbClr val="222222"/>
                </a:solidFill>
                <a:latin typeface="맑은 고딕"/>
                <a:ea typeface="맑은 고딕"/>
              </a:rPr>
              <a:t>인베스터클럽 2기 AI 프로그램에서 5개 조가 제작한 'AI 기반 투자 리서치 산출물'을 투자자 관점과 AI 활용 관점에서 평가하고, 본 프로그램의 AI 교육이 실제 산출물에 어떻게 반영되었는지를 정리한 결과보고서입니다.</a:t>
            </a:r>
          </a:p>
        </p:txBody>
      </p:sp>
      <p:sp>
        <p:nvSpPr>
          <p:cNvPr id="6" name="TextBox 5"/>
          <p:cNvSpPr txBox="1"/>
          <p:nvPr/>
        </p:nvSpPr>
        <p:spPr>
          <a:xfrm>
            <a:off x="548640" y="2606040"/>
            <a:ext cx="10972800" cy="365760"/>
          </a:xfrm>
          <a:prstGeom prst="rect">
            <a:avLst/>
          </a:prstGeom>
          <a:noFill/>
        </p:spPr>
        <p:txBody>
          <a:bodyPr wrap="square">
            <a:spAutoFit/>
          </a:bodyPr>
          <a:lstStyle/>
          <a:p>
            <a:pPr algn="l"/>
            <a:r>
              <a:rPr sz="1500" b="1">
                <a:solidFill>
                  <a:srgbClr val="2E5A9E"/>
                </a:solidFill>
                <a:latin typeface="맑은 고딕"/>
                <a:ea typeface="맑은 고딕"/>
              </a:rPr>
              <a:t>평가 범위</a:t>
            </a:r>
          </a:p>
        </p:txBody>
      </p:sp>
      <p:sp>
        <p:nvSpPr>
          <p:cNvPr id="7" name="TextBox 6"/>
          <p:cNvSpPr txBox="1"/>
          <p:nvPr/>
        </p:nvSpPr>
        <p:spPr>
          <a:xfrm>
            <a:off x="548640" y="2926080"/>
            <a:ext cx="11064240" cy="1005840"/>
          </a:xfrm>
          <a:prstGeom prst="rect">
            <a:avLst/>
          </a:prstGeom>
          <a:noFill/>
        </p:spPr>
        <p:txBody>
          <a:bodyPr wrap="square">
            <a:spAutoFit/>
          </a:bodyPr>
          <a:lstStyle/>
          <a:p>
            <a:pPr algn="l"/>
            <a:r>
              <a:rPr sz="1300" b="0">
                <a:solidFill>
                  <a:srgbClr val="222222"/>
                </a:solidFill>
                <a:latin typeface="맑은 고딕"/>
                <a:ea typeface="맑은 고딕"/>
              </a:rPr>
              <a:t>AI 폴더 내 Team1~Team5 프로젝트 전체(코드베이스, 에이전트/스킬 설계, 실행 로그·캐시 데이터, 최종 산출 리포트)를 직접 열람하여 평가했습니다. Team2는 폴더가 비어 있어 산출물이 확인되지 않았습니다(미제출로 처리).</a:t>
            </a:r>
          </a:p>
        </p:txBody>
      </p:sp>
      <p:sp>
        <p:nvSpPr>
          <p:cNvPr id="8" name="TextBox 7"/>
          <p:cNvSpPr txBox="1"/>
          <p:nvPr/>
        </p:nvSpPr>
        <p:spPr>
          <a:xfrm>
            <a:off x="548640" y="4114800"/>
            <a:ext cx="10972800" cy="365760"/>
          </a:xfrm>
          <a:prstGeom prst="rect">
            <a:avLst/>
          </a:prstGeom>
          <a:noFill/>
        </p:spPr>
        <p:txBody>
          <a:bodyPr wrap="square">
            <a:spAutoFit/>
          </a:bodyPr>
          <a:lstStyle/>
          <a:p>
            <a:pPr algn="l"/>
            <a:r>
              <a:rPr sz="1150" b="0">
                <a:solidFill>
                  <a:srgbClr val="555555"/>
                </a:solidFill>
                <a:latin typeface="맑은 고딕"/>
                <a:ea typeface="맑은 고딕"/>
              </a:rPr>
              <a:t>Team2 폴더는 비어 있어 산출물이 확인되지 않았습니다. 제출 여부를 별도로 확인하시기 바랍니다.</a:t>
            </a:r>
          </a:p>
        </p:txBody>
      </p:sp>
      <p:sp>
        <p:nvSpPr>
          <p:cNvPr id="9" name="TextBox 8"/>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평가 기준 (5개 항목)</a:t>
            </a:r>
          </a:p>
        </p:txBody>
      </p:sp>
      <p:graphicFrame>
        <p:nvGraphicFramePr>
          <p:cNvPr id="4" name="Table 3"/>
          <p:cNvGraphicFramePr>
            <a:graphicFrameLocks noGrp="1"/>
          </p:cNvGraphicFramePr>
          <p:nvPr/>
        </p:nvGraphicFramePr>
        <p:xfrm>
          <a:off x="548640" y="1371600"/>
          <a:ext cx="11064240" cy="4937760"/>
        </p:xfrm>
        <a:graphic>
          <a:graphicData uri="http://schemas.openxmlformats.org/drawingml/2006/table">
            <a:tbl>
              <a:tblPr firstRow="1" bandRow="1">
                <a:tableStyleId>{5C22544A-7EE6-4342-B048-85BDC9FD1C3A}</a:tableStyleId>
              </a:tblPr>
              <a:tblGrid>
                <a:gridCol w="2743200"/>
                <a:gridCol w="8321040"/>
              </a:tblGrid>
              <a:tr h="822960">
                <a:tc>
                  <a:txBody>
                    <a:bodyPr/>
                    <a:lstStyle/>
                    <a:p>
                      <a:pPr algn="ctr"/>
                      <a:r>
                        <a:rPr sz="1300" b="1">
                          <a:solidFill>
                            <a:srgbClr val="FFFFFF"/>
                          </a:solidFill>
                          <a:latin typeface="맑은 고딕"/>
                          <a:ea typeface="맑은 고딕"/>
                        </a:rPr>
                        <a:t>항목</a:t>
                      </a:r>
                    </a:p>
                  </a:txBody>
                  <a:tcPr>
                    <a:solidFill>
                      <a:srgbClr val="1B2A4A"/>
                    </a:solidFill>
                  </a:tcPr>
                </a:tc>
                <a:tc>
                  <a:txBody>
                    <a:bodyPr/>
                    <a:lstStyle/>
                    <a:p>
                      <a:pPr algn="ctr"/>
                      <a:r>
                        <a:rPr sz="1300" b="1">
                          <a:solidFill>
                            <a:srgbClr val="FFFFFF"/>
                          </a:solidFill>
                          <a:latin typeface="맑은 고딕"/>
                          <a:ea typeface="맑은 고딕"/>
                        </a:rPr>
                        <a:t>평가 관점</a:t>
                      </a:r>
                    </a:p>
                  </a:txBody>
                  <a:tcPr>
                    <a:solidFill>
                      <a:srgbClr val="1B2A4A"/>
                    </a:solidFill>
                  </a:tcPr>
                </a:tc>
              </a:tr>
              <a:tr h="822960">
                <a:tc>
                  <a:txBody>
                    <a:bodyPr/>
                    <a:lstStyle/>
                    <a:p>
                      <a:pPr algn="ctr">
                        <a:defRPr b="1"/>
                      </a:pPr>
                      <a:r>
                        <a:rPr sz="1200" b="0">
                          <a:solidFill>
                            <a:srgbClr val="222222"/>
                          </a:solidFill>
                          <a:latin typeface="맑은 고딕"/>
                          <a:ea typeface="맑은 고딕"/>
                        </a:rPr>
                        <a:t>AI 활용 심도</a:t>
                      </a:r>
                    </a:p>
                  </a:txBody>
                  <a:tcPr>
                    <a:solidFill>
                      <a:srgbClr val="FFFFFF"/>
                    </a:solidFill>
                  </a:tcPr>
                </a:tc>
                <a:tc>
                  <a:txBody>
                    <a:bodyPr/>
                    <a:lstStyle/>
                    <a:p>
                      <a:pPr algn="l"/>
                      <a:r>
                        <a:rPr sz="1200" b="0">
                          <a:solidFill>
                            <a:srgbClr val="222222"/>
                          </a:solidFill>
                          <a:latin typeface="맑은 고딕"/>
                          <a:ea typeface="맑은 고딕"/>
                        </a:rPr>
                        <a:t>단일 프롬프트 수준이 아니라, 서브에이전트/스킬을 활용한 다단계 파이프라인(데이터 수집→분석→판단→보고서화)을 실제로 설계·구현했는지</a:t>
                      </a:r>
                    </a:p>
                  </a:txBody>
                  <a:tcPr>
                    <a:solidFill>
                      <a:srgbClr val="FFFFFF"/>
                    </a:solidFill>
                  </a:tcPr>
                </a:tc>
              </a:tr>
              <a:tr h="822960">
                <a:tc>
                  <a:txBody>
                    <a:bodyPr/>
                    <a:lstStyle/>
                    <a:p>
                      <a:pPr algn="ctr">
                        <a:defRPr b="1"/>
                      </a:pPr>
                      <a:r>
                        <a:rPr sz="1200" b="0">
                          <a:solidFill>
                            <a:srgbClr val="222222"/>
                          </a:solidFill>
                          <a:latin typeface="맑은 고딕"/>
                          <a:ea typeface="맑은 고딕"/>
                        </a:rPr>
                        <a:t>투자자 보고서의 다양성·깊이</a:t>
                      </a:r>
                    </a:p>
                  </a:txBody>
                  <a:tcPr>
                    <a:solidFill>
                      <a:srgbClr val="F4F6FA"/>
                    </a:solidFill>
                  </a:tcPr>
                </a:tc>
                <a:tc>
                  <a:txBody>
                    <a:bodyPr/>
                    <a:lstStyle/>
                    <a:p>
                      <a:pPr algn="l"/>
                      <a:r>
                        <a:rPr sz="1200" b="0">
                          <a:solidFill>
                            <a:srgbClr val="222222"/>
                          </a:solidFill>
                          <a:latin typeface="맑은 고딕"/>
                          <a:ea typeface="맑은 고딕"/>
                        </a:rPr>
                        <a:t>밸류에이션, 경쟁우위(해자) 분석, 리스크·촉매, 시나리오, 출처 인용 등 투자 의사결정에 필요한 요소를 얼마나 다각도로 담았는지</a:t>
                      </a:r>
                    </a:p>
                  </a:txBody>
                  <a:tcPr>
                    <a:solidFill>
                      <a:srgbClr val="F4F6FA"/>
                    </a:solidFill>
                  </a:tcPr>
                </a:tc>
              </a:tr>
              <a:tr h="822960">
                <a:tc>
                  <a:txBody>
                    <a:bodyPr/>
                    <a:lstStyle/>
                    <a:p>
                      <a:pPr algn="ctr">
                        <a:defRPr b="1"/>
                      </a:pPr>
                      <a:r>
                        <a:rPr sz="1200" b="0">
                          <a:solidFill>
                            <a:srgbClr val="222222"/>
                          </a:solidFill>
                          <a:latin typeface="맑은 고딕"/>
                          <a:ea typeface="맑은 고딕"/>
                        </a:rPr>
                        <a:t>실제 작동 여부</a:t>
                      </a:r>
                    </a:p>
                  </a:txBody>
                  <a:tcPr>
                    <a:solidFill>
                      <a:srgbClr val="FFFFFF"/>
                    </a:solidFill>
                  </a:tcPr>
                </a:tc>
                <a:tc>
                  <a:txBody>
                    <a:bodyPr/>
                    <a:lstStyle/>
                    <a:p>
                      <a:pPr algn="l"/>
                      <a:r>
                        <a:rPr sz="1200" b="0">
                          <a:solidFill>
                            <a:srgbClr val="222222"/>
                          </a:solidFill>
                          <a:latin typeface="맑은 고딕"/>
                          <a:ea typeface="맑은 고딕"/>
                        </a:rPr>
                        <a:t>가짜/샘플 데이터가 아니라 실제 API(DART·FRED·FnGuide 등)로 수집한 데이터로 파이프라인이 end-to-end로 돌아갔는지, 테스트·커밋 이력 등 정황 증거</a:t>
                      </a:r>
                    </a:p>
                  </a:txBody>
                  <a:tcPr>
                    <a:solidFill>
                      <a:srgbClr val="FFFFFF"/>
                    </a:solidFill>
                  </a:tcPr>
                </a:tc>
              </a:tr>
              <a:tr h="822960">
                <a:tc>
                  <a:txBody>
                    <a:bodyPr/>
                    <a:lstStyle/>
                    <a:p>
                      <a:pPr algn="ctr">
                        <a:defRPr b="1"/>
                      </a:pPr>
                      <a:r>
                        <a:rPr sz="1200" b="0">
                          <a:solidFill>
                            <a:srgbClr val="222222"/>
                          </a:solidFill>
                          <a:latin typeface="맑은 고딕"/>
                          <a:ea typeface="맑은 고딕"/>
                        </a:rPr>
                        <a:t>가독성·이해 용이성</a:t>
                      </a:r>
                    </a:p>
                  </a:txBody>
                  <a:tcPr>
                    <a:solidFill>
                      <a:srgbClr val="F4F6FA"/>
                    </a:solidFill>
                  </a:tcPr>
                </a:tc>
                <a:tc>
                  <a:txBody>
                    <a:bodyPr/>
                    <a:lstStyle/>
                    <a:p>
                      <a:pPr algn="l"/>
                      <a:r>
                        <a:rPr sz="1200" b="0">
                          <a:solidFill>
                            <a:srgbClr val="222222"/>
                          </a:solidFill>
                          <a:latin typeface="맑은 고딕"/>
                          <a:ea typeface="맑은 고딕"/>
                        </a:rPr>
                        <a:t>비전문가인 투자자가 읽었을 때 결론과 근거를 쉽게 파악할 수 있도록 시각적으로 잘 구성되었는지</a:t>
                      </a:r>
                    </a:p>
                  </a:txBody>
                  <a:tcPr>
                    <a:solidFill>
                      <a:srgbClr val="F4F6FA"/>
                    </a:solidFill>
                  </a:tcPr>
                </a:tc>
              </a:tr>
              <a:tr h="822960">
                <a:tc>
                  <a:txBody>
                    <a:bodyPr/>
                    <a:lstStyle/>
                    <a:p>
                      <a:pPr algn="ctr">
                        <a:defRPr b="1"/>
                      </a:pPr>
                      <a:r>
                        <a:rPr sz="1200" b="0">
                          <a:solidFill>
                            <a:srgbClr val="222222"/>
                          </a:solidFill>
                          <a:latin typeface="맑은 고딕"/>
                          <a:ea typeface="맑은 고딕"/>
                        </a:rPr>
                        <a:t>교육 내용 반영도</a:t>
                      </a:r>
                    </a:p>
                  </a:txBody>
                  <a:tcPr>
                    <a:solidFill>
                      <a:srgbClr val="FFFFFF"/>
                    </a:solidFill>
                  </a:tcPr>
                </a:tc>
                <a:tc>
                  <a:txBody>
                    <a:bodyPr/>
                    <a:lstStyle/>
                    <a:p>
                      <a:pPr algn="l"/>
                      <a:r>
                        <a:rPr sz="1200" b="0">
                          <a:solidFill>
                            <a:srgbClr val="222222"/>
                          </a:solidFill>
                          <a:latin typeface="맑은 고딕"/>
                          <a:ea typeface="맑은 고딕"/>
                        </a:rPr>
                        <a:t>프로그램에서 가르친 AI 개념(서브에이전트, 스킬, MCP, 근거인용/환각방지, 병렬 오케스트레이션, 적대적 자기검증 등)이 산출물 설계에 구체적으로 녹아 있는지</a:t>
                      </a:r>
                    </a:p>
                  </a:txBody>
                  <a:tcPr>
                    <a:solidFill>
                      <a:srgbClr val="FFFFFF"/>
                    </a:solidFill>
                  </a:tcPr>
                </a:tc>
              </a:tr>
            </a:tbl>
          </a:graphicData>
        </a:graphic>
      </p:graphicFrame>
      <p:sp>
        <p:nvSpPr>
          <p:cNvPr id="5" name="TextBox 4"/>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2. 조별 평가 요약</a:t>
            </a:r>
          </a:p>
        </p:txBody>
      </p:sp>
      <p:graphicFrame>
        <p:nvGraphicFramePr>
          <p:cNvPr id="4" name="Table 3"/>
          <p:cNvGraphicFramePr>
            <a:graphicFrameLocks noGrp="1"/>
          </p:cNvGraphicFramePr>
          <p:nvPr/>
        </p:nvGraphicFramePr>
        <p:xfrm>
          <a:off x="548640" y="1371600"/>
          <a:ext cx="11064240" cy="3108960"/>
        </p:xfrm>
        <a:graphic>
          <a:graphicData uri="http://schemas.openxmlformats.org/drawingml/2006/table">
            <a:tbl>
              <a:tblPr firstRow="1" bandRow="1">
                <a:tableStyleId>{5C22544A-7EE6-4342-B048-85BDC9FD1C3A}</a:tableStyleId>
              </a:tblPr>
              <a:tblGrid>
                <a:gridCol w="2743200"/>
                <a:gridCol w="1371600"/>
                <a:gridCol w="1371600"/>
                <a:gridCol w="1280160"/>
                <a:gridCol w="1280160"/>
                <a:gridCol w="1280160"/>
                <a:gridCol w="1737360"/>
              </a:tblGrid>
              <a:tr h="621792">
                <a:tc>
                  <a:txBody>
                    <a:bodyPr/>
                    <a:lstStyle/>
                    <a:p>
                      <a:pPr algn="ctr"/>
                      <a:r>
                        <a:rPr sz="1100" b="1">
                          <a:solidFill>
                            <a:srgbClr val="FFFFFF"/>
                          </a:solidFill>
                          <a:latin typeface="맑은 고딕"/>
                          <a:ea typeface="맑은 고딕"/>
                        </a:rPr>
                        <a:t>조</a:t>
                      </a:r>
                    </a:p>
                  </a:txBody>
                  <a:tcPr>
                    <a:solidFill>
                      <a:srgbClr val="1B2A4A"/>
                    </a:solidFill>
                  </a:tcPr>
                </a:tc>
                <a:tc>
                  <a:txBody>
                    <a:bodyPr/>
                    <a:lstStyle/>
                    <a:p>
                      <a:pPr algn="ctr"/>
                      <a:r>
                        <a:rPr sz="1100" b="1">
                          <a:solidFill>
                            <a:srgbClr val="FFFFFF"/>
                          </a:solidFill>
                          <a:latin typeface="맑은 고딕"/>
                          <a:ea typeface="맑은 고딕"/>
                        </a:rPr>
                        <a:t>AI 활용</a:t>
                      </a:r>
                    </a:p>
                    <a:p>
                      <a:pPr algn="ctr"/>
                      <a:r>
                        <a:rPr sz="1100" b="1">
                          <a:solidFill>
                            <a:srgbClr val="FFFFFF"/>
                          </a:solidFill>
                          <a:latin typeface="맑은 고딕"/>
                          <a:ea typeface="맑은 고딕"/>
                        </a:rPr>
                        <a:t>심도</a:t>
                      </a:r>
                    </a:p>
                  </a:txBody>
                  <a:tcPr>
                    <a:solidFill>
                      <a:srgbClr val="1B2A4A"/>
                    </a:solidFill>
                  </a:tcPr>
                </a:tc>
                <a:tc>
                  <a:txBody>
                    <a:bodyPr/>
                    <a:lstStyle/>
                    <a:p>
                      <a:pPr algn="ctr"/>
                      <a:r>
                        <a:rPr sz="1100" b="1">
                          <a:solidFill>
                            <a:srgbClr val="FFFFFF"/>
                          </a:solidFill>
                          <a:latin typeface="맑은 고딕"/>
                          <a:ea typeface="맑은 고딕"/>
                        </a:rPr>
                        <a:t>보고서</a:t>
                      </a:r>
                    </a:p>
                    <a:p>
                      <a:pPr algn="ctr"/>
                      <a:r>
                        <a:rPr sz="1100" b="1">
                          <a:solidFill>
                            <a:srgbClr val="FFFFFF"/>
                          </a:solidFill>
                          <a:latin typeface="맑은 고딕"/>
                          <a:ea typeface="맑은 고딕"/>
                        </a:rPr>
                        <a:t>깊이</a:t>
                      </a:r>
                    </a:p>
                  </a:txBody>
                  <a:tcPr>
                    <a:solidFill>
                      <a:srgbClr val="1B2A4A"/>
                    </a:solidFill>
                  </a:tcPr>
                </a:tc>
                <a:tc>
                  <a:txBody>
                    <a:bodyPr/>
                    <a:lstStyle/>
                    <a:p>
                      <a:pPr algn="ctr"/>
                      <a:r>
                        <a:rPr sz="1100" b="1">
                          <a:solidFill>
                            <a:srgbClr val="FFFFFF"/>
                          </a:solidFill>
                          <a:latin typeface="맑은 고딕"/>
                          <a:ea typeface="맑은 고딕"/>
                        </a:rPr>
                        <a:t>실제</a:t>
                      </a:r>
                    </a:p>
                    <a:p>
                      <a:pPr algn="ctr"/>
                      <a:r>
                        <a:rPr sz="1100" b="1">
                          <a:solidFill>
                            <a:srgbClr val="FFFFFF"/>
                          </a:solidFill>
                          <a:latin typeface="맑은 고딕"/>
                          <a:ea typeface="맑은 고딕"/>
                        </a:rPr>
                        <a:t>작동</a:t>
                      </a:r>
                    </a:p>
                  </a:txBody>
                  <a:tcPr>
                    <a:solidFill>
                      <a:srgbClr val="1B2A4A"/>
                    </a:solidFill>
                  </a:tcPr>
                </a:tc>
                <a:tc>
                  <a:txBody>
                    <a:bodyPr/>
                    <a:lstStyle/>
                    <a:p>
                      <a:pPr algn="ctr"/>
                      <a:r>
                        <a:rPr sz="1100" b="1">
                          <a:solidFill>
                            <a:srgbClr val="FFFFFF"/>
                          </a:solidFill>
                          <a:latin typeface="맑은 고딕"/>
                          <a:ea typeface="맑은 고딕"/>
                        </a:rPr>
                        <a:t>가독성</a:t>
                      </a:r>
                    </a:p>
                  </a:txBody>
                  <a:tcPr>
                    <a:solidFill>
                      <a:srgbClr val="1B2A4A"/>
                    </a:solidFill>
                  </a:tcPr>
                </a:tc>
                <a:tc>
                  <a:txBody>
                    <a:bodyPr/>
                    <a:lstStyle/>
                    <a:p>
                      <a:pPr algn="ctr"/>
                      <a:r>
                        <a:rPr sz="1100" b="1">
                          <a:solidFill>
                            <a:srgbClr val="FFFFFF"/>
                          </a:solidFill>
                          <a:latin typeface="맑은 고딕"/>
                          <a:ea typeface="맑은 고딕"/>
                        </a:rPr>
                        <a:t>교육</a:t>
                      </a:r>
                    </a:p>
                    <a:p>
                      <a:pPr algn="ctr"/>
                      <a:r>
                        <a:rPr sz="1100" b="1">
                          <a:solidFill>
                            <a:srgbClr val="FFFFFF"/>
                          </a:solidFill>
                          <a:latin typeface="맑은 고딕"/>
                          <a:ea typeface="맑은 고딕"/>
                        </a:rPr>
                        <a:t>반영</a:t>
                      </a:r>
                    </a:p>
                  </a:txBody>
                  <a:tcPr>
                    <a:solidFill>
                      <a:srgbClr val="1B2A4A"/>
                    </a:solidFill>
                  </a:tcPr>
                </a:tc>
                <a:tc>
                  <a:txBody>
                    <a:bodyPr/>
                    <a:lstStyle/>
                    <a:p>
                      <a:pPr algn="ctr"/>
                      <a:r>
                        <a:rPr sz="1100" b="1">
                          <a:solidFill>
                            <a:srgbClr val="FFFFFF"/>
                          </a:solidFill>
                          <a:latin typeface="맑은 고딕"/>
                          <a:ea typeface="맑은 고딕"/>
                        </a:rPr>
                        <a:t>종합 등급</a:t>
                      </a:r>
                    </a:p>
                  </a:txBody>
                  <a:tcPr>
                    <a:solidFill>
                      <a:srgbClr val="1B2A4A"/>
                    </a:solidFill>
                  </a:tcPr>
                </a:tc>
              </a:tr>
              <a:tr h="621792">
                <a:tc>
                  <a:txBody>
                    <a:bodyPr/>
                    <a:lstStyle/>
                    <a:p>
                      <a:pPr algn="l">
                        <a:defRPr b="1"/>
                      </a:pPr>
                      <a:r>
                        <a:rPr sz="1200" b="0">
                          <a:solidFill>
                            <a:srgbClr val="222222"/>
                          </a:solidFill>
                          <a:latin typeface="맑은 고딕"/>
                          <a:ea typeface="맑은 고딕"/>
                        </a:rPr>
                        <a:t>Team1 — AI-wave</a:t>
                      </a:r>
                    </a:p>
                  </a:txBody>
                  <a:tcPr>
                    <a:solidFill>
                      <a:srgbClr val="FFFFFF"/>
                    </a:solidFill>
                  </a:tcPr>
                </a:tc>
                <a:tc>
                  <a:txBody>
                    <a:bodyPr/>
                    <a:lstStyle/>
                    <a:p>
                      <a:pPr algn="ctr"/>
                      <a:r>
                        <a:rPr sz="1200" b="0">
                          <a:solidFill>
                            <a:srgbClr val="222222"/>
                          </a:solidFill>
                          <a:latin typeface="맑은 고딕"/>
                          <a:ea typeface="맑은 고딕"/>
                        </a:rPr>
                        <a:t>5</a:t>
                      </a:r>
                    </a:p>
                  </a:txBody>
                  <a:tcPr>
                    <a:solidFill>
                      <a:srgbClr val="FFFFFF"/>
                    </a:solidFill>
                  </a:tcPr>
                </a:tc>
                <a:tc>
                  <a:txBody>
                    <a:bodyPr/>
                    <a:lstStyle/>
                    <a:p>
                      <a:pPr algn="ctr"/>
                      <a:r>
                        <a:rPr sz="1200" b="0">
                          <a:solidFill>
                            <a:srgbClr val="222222"/>
                          </a:solidFill>
                          <a:latin typeface="맑은 고딕"/>
                          <a:ea typeface="맑은 고딕"/>
                        </a:rPr>
                        <a:t>4</a:t>
                      </a:r>
                    </a:p>
                  </a:txBody>
                  <a:tcPr>
                    <a:solidFill>
                      <a:srgbClr val="FFFFFF"/>
                    </a:solidFill>
                  </a:tcPr>
                </a:tc>
                <a:tc>
                  <a:txBody>
                    <a:bodyPr/>
                    <a:lstStyle/>
                    <a:p>
                      <a:pPr algn="ctr"/>
                      <a:r>
                        <a:rPr sz="1200" b="0">
                          <a:solidFill>
                            <a:srgbClr val="222222"/>
                          </a:solidFill>
                          <a:latin typeface="맑은 고딕"/>
                          <a:ea typeface="맑은 고딕"/>
                        </a:rPr>
                        <a:t>4</a:t>
                      </a:r>
                    </a:p>
                  </a:txBody>
                  <a:tcPr>
                    <a:solidFill>
                      <a:srgbClr val="FFFFFF"/>
                    </a:solidFill>
                  </a:tcPr>
                </a:tc>
                <a:tc>
                  <a:txBody>
                    <a:bodyPr/>
                    <a:lstStyle/>
                    <a:p>
                      <a:pPr algn="ctr"/>
                      <a:r>
                        <a:rPr sz="1200" b="0">
                          <a:solidFill>
                            <a:srgbClr val="222222"/>
                          </a:solidFill>
                          <a:latin typeface="맑은 고딕"/>
                          <a:ea typeface="맑은 고딕"/>
                        </a:rPr>
                        <a:t>3</a:t>
                      </a:r>
                    </a:p>
                  </a:txBody>
                  <a:tcPr>
                    <a:solidFill>
                      <a:srgbClr val="FFFFFF"/>
                    </a:solidFill>
                  </a:tcPr>
                </a:tc>
                <a:tc>
                  <a:txBody>
                    <a:bodyPr/>
                    <a:lstStyle/>
                    <a:p>
                      <a:pPr algn="ctr"/>
                      <a:r>
                        <a:rPr sz="1200" b="0">
                          <a:solidFill>
                            <a:srgbClr val="222222"/>
                          </a:solidFill>
                          <a:latin typeface="맑은 고딕"/>
                          <a:ea typeface="맑은 고딕"/>
                        </a:rPr>
                        <a:t>5</a:t>
                      </a:r>
                    </a:p>
                  </a:txBody>
                  <a:tcPr>
                    <a:solidFill>
                      <a:srgbClr val="FFFFFF"/>
                    </a:solidFill>
                  </a:tcPr>
                </a:tc>
                <a:tc>
                  <a:txBody>
                    <a:bodyPr/>
                    <a:lstStyle/>
                    <a:p>
                      <a:pPr algn="ctr"/>
                      <a:r>
                        <a:rPr sz="1200" b="1">
                          <a:solidFill>
                            <a:srgbClr val="2E5A9E"/>
                          </a:solidFill>
                          <a:latin typeface="맑은 고딕"/>
                          <a:ea typeface="맑은 고딕"/>
                        </a:rPr>
                        <a:t>우수 (A)</a:t>
                      </a:r>
                    </a:p>
                  </a:txBody>
                  <a:tcPr>
                    <a:solidFill>
                      <a:srgbClr val="FFFFFF"/>
                    </a:solidFill>
                  </a:tcPr>
                </a:tc>
              </a:tr>
              <a:tr h="621792">
                <a:tc>
                  <a:txBody>
                    <a:bodyPr/>
                    <a:lstStyle/>
                    <a:p>
                      <a:pPr algn="l">
                        <a:defRPr b="1"/>
                      </a:pPr>
                      <a:r>
                        <a:rPr sz="1200" b="0">
                          <a:solidFill>
                            <a:srgbClr val="222222"/>
                          </a:solidFill>
                          <a:latin typeface="맑은 고딕"/>
                          <a:ea typeface="맑은 고딕"/>
                        </a:rPr>
                        <a:t>Team3 — PLUS FUTURE (Desk)</a:t>
                      </a:r>
                    </a:p>
                  </a:txBody>
                  <a:tcPr>
                    <a:solidFill>
                      <a:srgbClr val="F4F6FA"/>
                    </a:solidFill>
                  </a:tcPr>
                </a:tc>
                <a:tc>
                  <a:txBody>
                    <a:bodyPr/>
                    <a:lstStyle/>
                    <a:p>
                      <a:pPr algn="ctr"/>
                      <a:r>
                        <a:rPr sz="1200" b="0">
                          <a:solidFill>
                            <a:srgbClr val="222222"/>
                          </a:solidFill>
                          <a:latin typeface="맑은 고딕"/>
                          <a:ea typeface="맑은 고딕"/>
                        </a:rPr>
                        <a:t>5</a:t>
                      </a:r>
                    </a:p>
                  </a:txBody>
                  <a:tcPr>
                    <a:solidFill>
                      <a:srgbClr val="F4F6FA"/>
                    </a:solidFill>
                  </a:tcPr>
                </a:tc>
                <a:tc>
                  <a:txBody>
                    <a:bodyPr/>
                    <a:lstStyle/>
                    <a:p>
                      <a:pPr algn="ctr"/>
                      <a:r>
                        <a:rPr sz="1200" b="0">
                          <a:solidFill>
                            <a:srgbClr val="222222"/>
                          </a:solidFill>
                          <a:latin typeface="맑은 고딕"/>
                          <a:ea typeface="맑은 고딕"/>
                        </a:rPr>
                        <a:t>5</a:t>
                      </a:r>
                    </a:p>
                  </a:txBody>
                  <a:tcPr>
                    <a:solidFill>
                      <a:srgbClr val="F4F6FA"/>
                    </a:solidFill>
                  </a:tcPr>
                </a:tc>
                <a:tc>
                  <a:txBody>
                    <a:bodyPr/>
                    <a:lstStyle/>
                    <a:p>
                      <a:pPr algn="ctr"/>
                      <a:r>
                        <a:rPr sz="1200" b="0">
                          <a:solidFill>
                            <a:srgbClr val="222222"/>
                          </a:solidFill>
                          <a:latin typeface="맑은 고딕"/>
                          <a:ea typeface="맑은 고딕"/>
                        </a:rPr>
                        <a:t>4</a:t>
                      </a:r>
                    </a:p>
                  </a:txBody>
                  <a:tcPr>
                    <a:solidFill>
                      <a:srgbClr val="F4F6FA"/>
                    </a:solidFill>
                  </a:tcPr>
                </a:tc>
                <a:tc>
                  <a:txBody>
                    <a:bodyPr/>
                    <a:lstStyle/>
                    <a:p>
                      <a:pPr algn="ctr"/>
                      <a:r>
                        <a:rPr sz="1200" b="0">
                          <a:solidFill>
                            <a:srgbClr val="222222"/>
                          </a:solidFill>
                          <a:latin typeface="맑은 고딕"/>
                          <a:ea typeface="맑은 고딕"/>
                        </a:rPr>
                        <a:t>5</a:t>
                      </a:r>
                    </a:p>
                  </a:txBody>
                  <a:tcPr>
                    <a:solidFill>
                      <a:srgbClr val="F4F6FA"/>
                    </a:solidFill>
                  </a:tcPr>
                </a:tc>
                <a:tc>
                  <a:txBody>
                    <a:bodyPr/>
                    <a:lstStyle/>
                    <a:p>
                      <a:pPr algn="ctr"/>
                      <a:r>
                        <a:rPr sz="1200" b="0">
                          <a:solidFill>
                            <a:srgbClr val="222222"/>
                          </a:solidFill>
                          <a:latin typeface="맑은 고딕"/>
                          <a:ea typeface="맑은 고딕"/>
                        </a:rPr>
                        <a:t>5</a:t>
                      </a:r>
                    </a:p>
                  </a:txBody>
                  <a:tcPr>
                    <a:solidFill>
                      <a:srgbClr val="F4F6FA"/>
                    </a:solidFill>
                  </a:tcPr>
                </a:tc>
                <a:tc>
                  <a:txBody>
                    <a:bodyPr/>
                    <a:lstStyle/>
                    <a:p>
                      <a:pPr algn="ctr"/>
                      <a:r>
                        <a:rPr sz="1200" b="1">
                          <a:solidFill>
                            <a:srgbClr val="1E7A3C"/>
                          </a:solidFill>
                          <a:latin typeface="맑은 고딕"/>
                          <a:ea typeface="맑은 고딕"/>
                        </a:rPr>
                        <a:t>최우수 (S)</a:t>
                      </a:r>
                    </a:p>
                  </a:txBody>
                  <a:tcPr>
                    <a:solidFill>
                      <a:srgbClr val="F4F6FA"/>
                    </a:solidFill>
                  </a:tcPr>
                </a:tc>
              </a:tr>
              <a:tr h="621792">
                <a:tc>
                  <a:txBody>
                    <a:bodyPr/>
                    <a:lstStyle/>
                    <a:p>
                      <a:pPr algn="l">
                        <a:defRPr b="1"/>
                      </a:pPr>
                      <a:r>
                        <a:rPr sz="1200" b="0">
                          <a:solidFill>
                            <a:srgbClr val="222222"/>
                          </a:solidFill>
                          <a:latin typeface="맑은 고딕"/>
                          <a:ea typeface="맑은 고딕"/>
                        </a:rPr>
                        <a:t>Team4 — DPIC Pre-IPO Desk</a:t>
                      </a:r>
                    </a:p>
                  </a:txBody>
                  <a:tcPr>
                    <a:solidFill>
                      <a:srgbClr val="FFFFFF"/>
                    </a:solidFill>
                  </a:tcPr>
                </a:tc>
                <a:tc>
                  <a:txBody>
                    <a:bodyPr/>
                    <a:lstStyle/>
                    <a:p>
                      <a:pPr algn="ctr"/>
                      <a:r>
                        <a:rPr sz="1200" b="0">
                          <a:solidFill>
                            <a:srgbClr val="222222"/>
                          </a:solidFill>
                          <a:latin typeface="맑은 고딕"/>
                          <a:ea typeface="맑은 고딕"/>
                        </a:rPr>
                        <a:t>3</a:t>
                      </a:r>
                    </a:p>
                  </a:txBody>
                  <a:tcPr>
                    <a:solidFill>
                      <a:srgbClr val="FFFFFF"/>
                    </a:solidFill>
                  </a:tcPr>
                </a:tc>
                <a:tc>
                  <a:txBody>
                    <a:bodyPr/>
                    <a:lstStyle/>
                    <a:p>
                      <a:pPr algn="ctr"/>
                      <a:r>
                        <a:rPr sz="1200" b="0">
                          <a:solidFill>
                            <a:srgbClr val="222222"/>
                          </a:solidFill>
                          <a:latin typeface="맑은 고딕"/>
                          <a:ea typeface="맑은 고딕"/>
                        </a:rPr>
                        <a:t>2</a:t>
                      </a:r>
                    </a:p>
                  </a:txBody>
                  <a:tcPr>
                    <a:solidFill>
                      <a:srgbClr val="FFFFFF"/>
                    </a:solidFill>
                  </a:tcPr>
                </a:tc>
                <a:tc>
                  <a:txBody>
                    <a:bodyPr/>
                    <a:lstStyle/>
                    <a:p>
                      <a:pPr algn="ctr"/>
                      <a:r>
                        <a:rPr sz="1200" b="0">
                          <a:solidFill>
                            <a:srgbClr val="222222"/>
                          </a:solidFill>
                          <a:latin typeface="맑은 고딕"/>
                          <a:ea typeface="맑은 고딕"/>
                        </a:rPr>
                        <a:t>3</a:t>
                      </a:r>
                    </a:p>
                  </a:txBody>
                  <a:tcPr>
                    <a:solidFill>
                      <a:srgbClr val="FFFFFF"/>
                    </a:solidFill>
                  </a:tcPr>
                </a:tc>
                <a:tc>
                  <a:txBody>
                    <a:bodyPr/>
                    <a:lstStyle/>
                    <a:p>
                      <a:pPr algn="ctr"/>
                      <a:r>
                        <a:rPr sz="1200" b="0">
                          <a:solidFill>
                            <a:srgbClr val="222222"/>
                          </a:solidFill>
                          <a:latin typeface="맑은 고딕"/>
                          <a:ea typeface="맑은 고딕"/>
                        </a:rPr>
                        <a:t>2</a:t>
                      </a:r>
                    </a:p>
                  </a:txBody>
                  <a:tcPr>
                    <a:solidFill>
                      <a:srgbClr val="FFFFFF"/>
                    </a:solidFill>
                  </a:tcPr>
                </a:tc>
                <a:tc>
                  <a:txBody>
                    <a:bodyPr/>
                    <a:lstStyle/>
                    <a:p>
                      <a:pPr algn="ctr"/>
                      <a:r>
                        <a:rPr sz="1200" b="0">
                          <a:solidFill>
                            <a:srgbClr val="222222"/>
                          </a:solidFill>
                          <a:latin typeface="맑은 고딕"/>
                          <a:ea typeface="맑은 고딕"/>
                        </a:rPr>
                        <a:t>4</a:t>
                      </a:r>
                    </a:p>
                  </a:txBody>
                  <a:tcPr>
                    <a:solidFill>
                      <a:srgbClr val="FFFFFF"/>
                    </a:solidFill>
                  </a:tcPr>
                </a:tc>
                <a:tc>
                  <a:txBody>
                    <a:bodyPr/>
                    <a:lstStyle/>
                    <a:p>
                      <a:pPr algn="ctr"/>
                      <a:r>
                        <a:rPr sz="1200" b="1">
                          <a:solidFill>
                            <a:srgbClr val="B56A00"/>
                          </a:solidFill>
                          <a:latin typeface="맑은 고딕"/>
                          <a:ea typeface="맑은 고딕"/>
                        </a:rPr>
                        <a:t>보완 필요 (B)</a:t>
                      </a:r>
                    </a:p>
                  </a:txBody>
                  <a:tcPr>
                    <a:solidFill>
                      <a:srgbClr val="FFFFFF"/>
                    </a:solidFill>
                  </a:tcPr>
                </a:tc>
              </a:tr>
              <a:tr h="621792">
                <a:tc>
                  <a:txBody>
                    <a:bodyPr/>
                    <a:lstStyle/>
                    <a:p>
                      <a:pPr algn="l">
                        <a:defRPr b="1"/>
                      </a:pPr>
                      <a:r>
                        <a:rPr sz="1200" b="0">
                          <a:solidFill>
                            <a:srgbClr val="222222"/>
                          </a:solidFill>
                          <a:latin typeface="맑은 고딕"/>
                          <a:ea typeface="맑은 고딕"/>
                        </a:rPr>
                        <a:t>Team5 — Proven Scalability Agent</a:t>
                      </a:r>
                    </a:p>
                  </a:txBody>
                  <a:tcPr>
                    <a:solidFill>
                      <a:srgbClr val="F4F6FA"/>
                    </a:solidFill>
                  </a:tcPr>
                </a:tc>
                <a:tc>
                  <a:txBody>
                    <a:bodyPr/>
                    <a:lstStyle/>
                    <a:p>
                      <a:pPr algn="ctr"/>
                      <a:r>
                        <a:rPr sz="1200" b="0">
                          <a:solidFill>
                            <a:srgbClr val="222222"/>
                          </a:solidFill>
                          <a:latin typeface="맑은 고딕"/>
                          <a:ea typeface="맑은 고딕"/>
                        </a:rPr>
                        <a:t>4</a:t>
                      </a:r>
                    </a:p>
                  </a:txBody>
                  <a:tcPr>
                    <a:solidFill>
                      <a:srgbClr val="F4F6FA"/>
                    </a:solidFill>
                  </a:tcPr>
                </a:tc>
                <a:tc>
                  <a:txBody>
                    <a:bodyPr/>
                    <a:lstStyle/>
                    <a:p>
                      <a:pPr algn="ctr"/>
                      <a:r>
                        <a:rPr sz="1200" b="0">
                          <a:solidFill>
                            <a:srgbClr val="222222"/>
                          </a:solidFill>
                          <a:latin typeface="맑은 고딕"/>
                          <a:ea typeface="맑은 고딕"/>
                        </a:rPr>
                        <a:t>5</a:t>
                      </a:r>
                    </a:p>
                  </a:txBody>
                  <a:tcPr>
                    <a:solidFill>
                      <a:srgbClr val="F4F6FA"/>
                    </a:solidFill>
                  </a:tcPr>
                </a:tc>
                <a:tc>
                  <a:txBody>
                    <a:bodyPr/>
                    <a:lstStyle/>
                    <a:p>
                      <a:pPr algn="ctr"/>
                      <a:r>
                        <a:rPr sz="1200" b="0">
                          <a:solidFill>
                            <a:srgbClr val="222222"/>
                          </a:solidFill>
                          <a:latin typeface="맑은 고딕"/>
                          <a:ea typeface="맑은 고딕"/>
                        </a:rPr>
                        <a:t>5</a:t>
                      </a:r>
                    </a:p>
                  </a:txBody>
                  <a:tcPr>
                    <a:solidFill>
                      <a:srgbClr val="F4F6FA"/>
                    </a:solidFill>
                  </a:tcPr>
                </a:tc>
                <a:tc>
                  <a:txBody>
                    <a:bodyPr/>
                    <a:lstStyle/>
                    <a:p>
                      <a:pPr algn="ctr"/>
                      <a:r>
                        <a:rPr sz="1200" b="0">
                          <a:solidFill>
                            <a:srgbClr val="222222"/>
                          </a:solidFill>
                          <a:latin typeface="맑은 고딕"/>
                          <a:ea typeface="맑은 고딕"/>
                        </a:rPr>
                        <a:t>4</a:t>
                      </a:r>
                    </a:p>
                  </a:txBody>
                  <a:tcPr>
                    <a:solidFill>
                      <a:srgbClr val="F4F6FA"/>
                    </a:solidFill>
                  </a:tcPr>
                </a:tc>
                <a:tc>
                  <a:txBody>
                    <a:bodyPr/>
                    <a:lstStyle/>
                    <a:p>
                      <a:pPr algn="ctr"/>
                      <a:r>
                        <a:rPr sz="1200" b="0">
                          <a:solidFill>
                            <a:srgbClr val="222222"/>
                          </a:solidFill>
                          <a:latin typeface="맑은 고딕"/>
                          <a:ea typeface="맑은 고딕"/>
                        </a:rPr>
                        <a:t>5</a:t>
                      </a:r>
                    </a:p>
                  </a:txBody>
                  <a:tcPr>
                    <a:solidFill>
                      <a:srgbClr val="F4F6FA"/>
                    </a:solidFill>
                  </a:tcPr>
                </a:tc>
                <a:tc>
                  <a:txBody>
                    <a:bodyPr/>
                    <a:lstStyle/>
                    <a:p>
                      <a:pPr algn="ctr"/>
                      <a:r>
                        <a:rPr sz="1200" b="1">
                          <a:solidFill>
                            <a:srgbClr val="2E5A9E"/>
                          </a:solidFill>
                          <a:latin typeface="맑은 고딕"/>
                          <a:ea typeface="맑은 고딕"/>
                        </a:rPr>
                        <a:t>우수 (A)</a:t>
                      </a:r>
                    </a:p>
                  </a:txBody>
                  <a:tcPr>
                    <a:solidFill>
                      <a:srgbClr val="F4F6FA"/>
                    </a:solidFill>
                  </a:tcPr>
                </a:tc>
              </a:tr>
            </a:tbl>
          </a:graphicData>
        </a:graphic>
      </p:graphicFrame>
      <p:sp>
        <p:nvSpPr>
          <p:cNvPr id="5" name="TextBox 4"/>
          <p:cNvSpPr txBox="1"/>
          <p:nvPr/>
        </p:nvSpPr>
        <p:spPr>
          <a:xfrm>
            <a:off x="548640" y="4709160"/>
            <a:ext cx="10972800" cy="365760"/>
          </a:xfrm>
          <a:prstGeom prst="rect">
            <a:avLst/>
          </a:prstGeom>
          <a:noFill/>
        </p:spPr>
        <p:txBody>
          <a:bodyPr wrap="square">
            <a:spAutoFit/>
          </a:bodyPr>
          <a:lstStyle/>
          <a:p>
            <a:pPr algn="l"/>
            <a:r>
              <a:rPr sz="1050" b="0">
                <a:solidFill>
                  <a:srgbClr val="555555"/>
                </a:solidFill>
                <a:latin typeface="맑은 고딕"/>
                <a:ea typeface="맑은 고딕"/>
              </a:rPr>
              <a:t>※ 각 항목은 5점 만점(5=최상, 1=미흡) 척도로 상대 평가한 값입니다.</a:t>
            </a:r>
          </a:p>
        </p:txBody>
      </p:sp>
      <p:sp>
        <p:nvSpPr>
          <p:cNvPr id="6" name="TextBox 5"/>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Team1 — AI-wave</a:t>
            </a:r>
          </a:p>
          <a:p>
            <a:r>
              <a:rPr sz="1300" b="0">
                <a:solidFill>
                  <a:srgbClr val="C8D4E8"/>
                </a:solidFill>
                <a:latin typeface="맑은 고딕"/>
                <a:ea typeface="맑은 고딕"/>
              </a:rPr>
              <a:t>종합 등급: 우수 (A)</a:t>
            </a:r>
          </a:p>
        </p:txBody>
      </p:sp>
      <p:sp>
        <p:nvSpPr>
          <p:cNvPr id="4" name="TextBox 3"/>
          <p:cNvSpPr txBox="1"/>
          <p:nvPr/>
        </p:nvSpPr>
        <p:spPr>
          <a:xfrm>
            <a:off x="548640" y="1234440"/>
            <a:ext cx="10972800" cy="320040"/>
          </a:xfrm>
          <a:prstGeom prst="rect">
            <a:avLst/>
          </a:prstGeom>
          <a:noFill/>
        </p:spPr>
        <p:txBody>
          <a:bodyPr wrap="square">
            <a:spAutoFit/>
          </a:bodyPr>
          <a:lstStyle/>
          <a:p>
            <a:pPr algn="l"/>
            <a:r>
              <a:rPr sz="1400" b="1">
                <a:solidFill>
                  <a:srgbClr val="2E5A9E"/>
                </a:solidFill>
                <a:latin typeface="맑은 고딕"/>
                <a:ea typeface="맑은 고딕"/>
              </a:rPr>
              <a:t>프로젝트 개요</a:t>
            </a:r>
          </a:p>
        </p:txBody>
      </p:sp>
      <p:sp>
        <p:nvSpPr>
          <p:cNvPr id="5" name="TextBox 4"/>
          <p:cNvSpPr txBox="1"/>
          <p:nvPr/>
        </p:nvSpPr>
        <p:spPr>
          <a:xfrm>
            <a:off x="548640" y="1554480"/>
            <a:ext cx="11064240" cy="1005840"/>
          </a:xfrm>
          <a:prstGeom prst="rect">
            <a:avLst/>
          </a:prstGeom>
          <a:noFill/>
        </p:spPr>
        <p:txBody>
          <a:bodyPr wrap="square">
            <a:spAutoFit/>
          </a:bodyPr>
          <a:lstStyle/>
          <a:p>
            <a:pPr algn="l"/>
            <a:r>
              <a:rPr sz="1250" b="0">
                <a:solidFill>
                  <a:srgbClr val="222222"/>
                </a:solidFill>
                <a:latin typeface="맑은 고딕"/>
                <a:ea typeface="맑은 고딕"/>
              </a:rPr>
              <a:t>Claude Code 오케스트레이터 서브에이전트 1개 + 스킬 9개로 구성된 투자심사 데스크. 가치·모멘텀·퀄리티 등 3가지 투자철학 서브에이전트를 병렬 실행해 서로 다른 시각으로 같은 기업을 교차 검증하는 구조.</a:t>
            </a:r>
          </a:p>
        </p:txBody>
      </p:sp>
      <p:sp>
        <p:nvSpPr>
          <p:cNvPr id="6" name="TextBox 5"/>
          <p:cNvSpPr txBox="1"/>
          <p:nvPr/>
        </p:nvSpPr>
        <p:spPr>
          <a:xfrm>
            <a:off x="548640" y="2606040"/>
            <a:ext cx="5394960" cy="320040"/>
          </a:xfrm>
          <a:prstGeom prst="rect">
            <a:avLst/>
          </a:prstGeom>
          <a:noFill/>
        </p:spPr>
        <p:txBody>
          <a:bodyPr wrap="square">
            <a:spAutoFit/>
          </a:bodyPr>
          <a:lstStyle/>
          <a:p>
            <a:pPr algn="l"/>
            <a:r>
              <a:rPr sz="1400" b="1">
                <a:solidFill>
                  <a:srgbClr val="1E7A3C"/>
                </a:solidFill>
                <a:latin typeface="맑은 고딕"/>
                <a:ea typeface="맑은 고딕"/>
              </a:rPr>
              <a:t>강점</a:t>
            </a:r>
          </a:p>
        </p:txBody>
      </p:sp>
      <p:sp>
        <p:nvSpPr>
          <p:cNvPr id="7" name="TextBox 6"/>
          <p:cNvSpPr txBox="1"/>
          <p:nvPr/>
        </p:nvSpPr>
        <p:spPr>
          <a:xfrm>
            <a:off x="548640" y="2926080"/>
            <a:ext cx="5394960" cy="3383280"/>
          </a:xfrm>
          <a:prstGeom prst="rect">
            <a:avLst/>
          </a:prstGeom>
          <a:noFill/>
        </p:spPr>
        <p:txBody>
          <a:bodyPr wrap="square">
            <a:spAutoFit/>
          </a:bodyPr>
          <a:lstStyle/>
          <a:p>
            <a:pPr>
              <a:lnSpc>
                <a:spcPct val="115000"/>
              </a:lnSpc>
              <a:spcAft>
                <a:spcPts val="600"/>
              </a:spcAft>
            </a:pPr>
            <a:r>
              <a:rPr sz="1200" b="0">
                <a:solidFill>
                  <a:srgbClr val="222222"/>
                </a:solidFill>
                <a:latin typeface="맑은 고딕"/>
                <a:ea typeface="맑은 고딕"/>
              </a:rPr>
              <a:t>•  실제로 작동하는 멀티에이전트 병렬 오케스트레이션과 MCP 연동</a:t>
            </a:r>
          </a:p>
          <a:p>
            <a:pPr>
              <a:lnSpc>
                <a:spcPct val="115000"/>
              </a:lnSpc>
              <a:spcAft>
                <a:spcPts val="600"/>
              </a:spcAft>
            </a:pPr>
            <a:r>
              <a:rPr sz="1200" b="0">
                <a:solidFill>
                  <a:srgbClr val="222222"/>
                </a:solidFill>
                <a:latin typeface="맑은 고딕"/>
                <a:ea typeface="맑은 고딕"/>
              </a:rPr>
              <a:t>•  근거 부족 시 억지로 매수의견을 만들지 않고 AVOID·판단보류를 정직하게 제시</a:t>
            </a:r>
          </a:p>
          <a:p>
            <a:pPr>
              <a:lnSpc>
                <a:spcPct val="115000"/>
              </a:lnSpc>
              <a:spcAft>
                <a:spcPts val="600"/>
              </a:spcAft>
            </a:pPr>
            <a:r>
              <a:rPr sz="1200" b="0">
                <a:solidFill>
                  <a:srgbClr val="222222"/>
                </a:solidFill>
                <a:latin typeface="맑은 고딕"/>
                <a:ea typeface="맑은 고딕"/>
              </a:rPr>
              <a:t>•  judgment-rules.md로 모든 판단 문장에 근거 인용을 의무화해 환각을 구조적으로 방지</a:t>
            </a:r>
          </a:p>
        </p:txBody>
      </p:sp>
      <p:sp>
        <p:nvSpPr>
          <p:cNvPr id="8" name="TextBox 7"/>
          <p:cNvSpPr txBox="1"/>
          <p:nvPr/>
        </p:nvSpPr>
        <p:spPr>
          <a:xfrm>
            <a:off x="6217920" y="2606040"/>
            <a:ext cx="5394960" cy="320040"/>
          </a:xfrm>
          <a:prstGeom prst="rect">
            <a:avLst/>
          </a:prstGeom>
          <a:noFill/>
        </p:spPr>
        <p:txBody>
          <a:bodyPr wrap="square">
            <a:spAutoFit/>
          </a:bodyPr>
          <a:lstStyle/>
          <a:p>
            <a:pPr algn="l"/>
            <a:r>
              <a:rPr sz="1400" b="1">
                <a:solidFill>
                  <a:srgbClr val="B52A2A"/>
                </a:solidFill>
                <a:latin typeface="맑은 고딕"/>
                <a:ea typeface="맑은 고딕"/>
              </a:rPr>
              <a:t>보완점</a:t>
            </a:r>
          </a:p>
        </p:txBody>
      </p:sp>
      <p:sp>
        <p:nvSpPr>
          <p:cNvPr id="9" name="TextBox 8"/>
          <p:cNvSpPr txBox="1"/>
          <p:nvPr/>
        </p:nvSpPr>
        <p:spPr>
          <a:xfrm>
            <a:off x="6217920" y="2926080"/>
            <a:ext cx="5394960" cy="3383280"/>
          </a:xfrm>
          <a:prstGeom prst="rect">
            <a:avLst/>
          </a:prstGeom>
          <a:noFill/>
        </p:spPr>
        <p:txBody>
          <a:bodyPr wrap="square">
            <a:spAutoFit/>
          </a:bodyPr>
          <a:lstStyle/>
          <a:p>
            <a:pPr>
              <a:lnSpc>
                <a:spcPct val="115000"/>
              </a:lnSpc>
              <a:spcAft>
                <a:spcPts val="600"/>
              </a:spcAft>
            </a:pPr>
            <a:r>
              <a:rPr sz="1200" b="0">
                <a:solidFill>
                  <a:srgbClr val="222222"/>
                </a:solidFill>
                <a:latin typeface="맑은 고딕"/>
                <a:ea typeface="맑은 고딕"/>
              </a:rPr>
              <a:t>•  DCF 등 정량 밸류에이션 부재</a:t>
            </a:r>
          </a:p>
          <a:p>
            <a:pPr>
              <a:lnSpc>
                <a:spcPct val="115000"/>
              </a:lnSpc>
              <a:spcAft>
                <a:spcPts val="600"/>
              </a:spcAft>
            </a:pPr>
            <a:r>
              <a:rPr sz="1200" b="0">
                <a:solidFill>
                  <a:srgbClr val="222222"/>
                </a:solidFill>
                <a:latin typeface="맑은 고딕"/>
                <a:ea typeface="맑은 고딕"/>
              </a:rPr>
              <a:t>•  시가총액·주가 데이터 소스가 불안정해 교차 출처 수치 불일치 존재</a:t>
            </a:r>
          </a:p>
          <a:p>
            <a:pPr>
              <a:lnSpc>
                <a:spcPct val="115000"/>
              </a:lnSpc>
              <a:spcAft>
                <a:spcPts val="600"/>
              </a:spcAft>
            </a:pPr>
            <a:r>
              <a:rPr sz="1200" b="0">
                <a:solidFill>
                  <a:srgbClr val="222222"/>
                </a:solidFill>
                <a:latin typeface="맑은 고딕"/>
                <a:ea typeface="맑은 고딕"/>
              </a:rPr>
              <a:t>•  리포트 디자인 일관성 부족(신·구 스타일 혼재)</a:t>
            </a:r>
          </a:p>
          <a:p>
            <a:pPr>
              <a:lnSpc>
                <a:spcPct val="115000"/>
              </a:lnSpc>
              <a:spcAft>
                <a:spcPts val="600"/>
              </a:spcAft>
            </a:pPr>
            <a:r>
              <a:rPr sz="1200" b="0">
                <a:solidFill>
                  <a:srgbClr val="222222"/>
                </a:solidFill>
                <a:latin typeface="맑은 고딕"/>
                <a:ea typeface="맑은 고딕"/>
              </a:rPr>
              <a:t>•  커밋 이력이 1개뿐이라 개발 과정 검증이 제한적</a:t>
            </a:r>
          </a:p>
        </p:txBody>
      </p:sp>
      <p:sp>
        <p:nvSpPr>
          <p:cNvPr id="10" name="TextBox 9"/>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Team1 — AI-wave — 상세 평가</a:t>
            </a:r>
          </a:p>
        </p:txBody>
      </p:sp>
      <p:sp>
        <p:nvSpPr>
          <p:cNvPr id="4" name="TextBox 3"/>
          <p:cNvSpPr txBox="1"/>
          <p:nvPr/>
        </p:nvSpPr>
        <p:spPr>
          <a:xfrm>
            <a:off x="548640" y="1280160"/>
            <a:ext cx="10972800" cy="292608"/>
          </a:xfrm>
          <a:prstGeom prst="rect">
            <a:avLst/>
          </a:prstGeom>
          <a:noFill/>
        </p:spPr>
        <p:txBody>
          <a:bodyPr wrap="square">
            <a:spAutoFit/>
          </a:bodyPr>
          <a:lstStyle/>
          <a:p>
            <a:pPr algn="l"/>
            <a:r>
              <a:rPr sz="1350" b="1">
                <a:solidFill>
                  <a:srgbClr val="2E5A9E"/>
                </a:solidFill>
                <a:latin typeface="맑은 고딕"/>
                <a:ea typeface="맑은 고딕"/>
              </a:rPr>
              <a:t>① AI 활용 심도</a:t>
            </a:r>
          </a:p>
        </p:txBody>
      </p:sp>
      <p:sp>
        <p:nvSpPr>
          <p:cNvPr id="5" name="TextBox 4"/>
          <p:cNvSpPr txBox="1"/>
          <p:nvPr/>
        </p:nvSpPr>
        <p:spPr>
          <a:xfrm>
            <a:off x="548640" y="1645919"/>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최상급. investment-desk.md 오케스트레이터가 '요구사항 점검 → 입력유형 판별 → 데이터 병렬 수집 → 3개 판단철학 서브에이전트 병렬 실행 → 2단계 스크리닝 → 보고서 초안 → 컴플라이언스 자가검증'의 8단계 파이프라인을 실제로 수행. MCP(fnspace-mcp)까지 연동했고, DART·FRED 클라이언트는 실제 작동. 미구현인 FnGuide 클라이언트는 작동하는 척하지 않고 NotImplementedError로 솔직하게 처리한 점이 인상적.</a:t>
            </a:r>
          </a:p>
        </p:txBody>
      </p:sp>
      <p:sp>
        <p:nvSpPr>
          <p:cNvPr id="6" name="TextBox 5"/>
          <p:cNvSpPr txBox="1"/>
          <p:nvPr/>
        </p:nvSpPr>
        <p:spPr>
          <a:xfrm>
            <a:off x="548640" y="2852928"/>
            <a:ext cx="10972800" cy="292608"/>
          </a:xfrm>
          <a:prstGeom prst="rect">
            <a:avLst/>
          </a:prstGeom>
          <a:noFill/>
        </p:spPr>
        <p:txBody>
          <a:bodyPr wrap="square">
            <a:spAutoFit/>
          </a:bodyPr>
          <a:lstStyle/>
          <a:p>
            <a:pPr algn="l"/>
            <a:r>
              <a:rPr sz="1350" b="1">
                <a:solidFill>
                  <a:srgbClr val="2E5A9E"/>
                </a:solidFill>
                <a:latin typeface="맑은 고딕"/>
                <a:ea typeface="맑은 고딕"/>
              </a:rPr>
              <a:t>② 투자자 보고서 다양성·깊이</a:t>
            </a:r>
          </a:p>
        </p:txBody>
      </p:sp>
      <p:sp>
        <p:nvSpPr>
          <p:cNvPr id="7" name="TextBox 6"/>
          <p:cNvSpPr txBox="1"/>
          <p:nvPr/>
        </p:nvSpPr>
        <p:spPr>
          <a:xfrm>
            <a:off x="548640" y="3218688"/>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BGF리테일 메모는 핵심테제·Pricing Power 4중 테스트·Variant Perception·촉매맵·Thesis Break 트리거 등 14개 섹션을 갖춘 기관급 분석. 다만 DCF나 피어 멀티플 비교표는 부재(팀 스스로 문서화한 한계).</a:t>
            </a:r>
          </a:p>
        </p:txBody>
      </p:sp>
      <p:sp>
        <p:nvSpPr>
          <p:cNvPr id="8" name="TextBox 7"/>
          <p:cNvSpPr txBox="1"/>
          <p:nvPr/>
        </p:nvSpPr>
        <p:spPr>
          <a:xfrm>
            <a:off x="548640" y="4425696"/>
            <a:ext cx="10972800" cy="292608"/>
          </a:xfrm>
          <a:prstGeom prst="rect">
            <a:avLst/>
          </a:prstGeom>
          <a:noFill/>
        </p:spPr>
        <p:txBody>
          <a:bodyPr wrap="square">
            <a:spAutoFit/>
          </a:bodyPr>
          <a:lstStyle/>
          <a:p>
            <a:pPr algn="l"/>
            <a:r>
              <a:rPr sz="1350" b="1">
                <a:solidFill>
                  <a:srgbClr val="2E5A9E"/>
                </a:solidFill>
                <a:latin typeface="맑은 고딕"/>
                <a:ea typeface="맑은 고딕"/>
              </a:rPr>
              <a:t>③ 실제 작동 여부</a:t>
            </a:r>
          </a:p>
        </p:txBody>
      </p:sp>
      <p:sp>
        <p:nvSpPr>
          <p:cNvPr id="9" name="TextBox 8"/>
          <p:cNvSpPr txBox="1"/>
          <p:nvPr/>
        </p:nvSpPr>
        <p:spPr>
          <a:xfrm>
            <a:off x="548640" y="4791456"/>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삼양식품 DART 캐시가 실제 공시수치와 일치하고, 웹 소스는 신뢰도 티어링과 저품질 소스 배제 흔적이 확인됨. CIS/IS 병합 버그를 발견·수정한 로그도 존재. 다만 git 커밋이 1개뿐이라 문서상 주장하는 개발 이력을 외부에서 재검증하기는 어려움.</a:t>
            </a:r>
          </a:p>
        </p:txBody>
      </p:sp>
      <p:sp>
        <p:nvSpPr>
          <p:cNvPr id="10" name="TextBox 9"/>
          <p:cNvSpPr txBox="1"/>
          <p:nvPr/>
        </p:nvSpPr>
        <p:spPr>
          <a:xfrm>
            <a:off x="548640" y="5998464"/>
            <a:ext cx="10972800" cy="292608"/>
          </a:xfrm>
          <a:prstGeom prst="rect">
            <a:avLst/>
          </a:prstGeom>
          <a:noFill/>
        </p:spPr>
        <p:txBody>
          <a:bodyPr wrap="square">
            <a:spAutoFit/>
          </a:bodyPr>
          <a:lstStyle/>
          <a:p>
            <a:pPr algn="l"/>
            <a:r>
              <a:rPr sz="1350" b="1">
                <a:solidFill>
                  <a:srgbClr val="2E5A9E"/>
                </a:solidFill>
                <a:latin typeface="맑은 고딕"/>
                <a:ea typeface="맑은 고딕"/>
              </a:rPr>
              <a:t>④ 가독성·이해 용이성</a:t>
            </a:r>
          </a:p>
        </p:txBody>
      </p:sp>
      <p:sp>
        <p:nvSpPr>
          <p:cNvPr id="11" name="TextBox 10"/>
          <p:cNvSpPr txBox="1"/>
          <p:nvPr/>
        </p:nvSpPr>
        <p:spPr>
          <a:xfrm>
            <a:off x="548640" y="6364224"/>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최신 디자인 시스템을 적용한 리포트(삼양식품 등)는 판정 배지·접기형 근거표 등으로 매우 우수. 다만 백화점·나이키 등 초기 리포트는 구 스타일이 남아있어 조 전체 문서군의 톤이 일관되지 않음.</a:t>
            </a:r>
          </a:p>
        </p:txBody>
      </p:sp>
      <p:sp>
        <p:nvSpPr>
          <p:cNvPr id="12" name="TextBox 11"/>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Team3 — PLUS FUTURE (Desk)</a:t>
            </a:r>
          </a:p>
          <a:p>
            <a:r>
              <a:rPr sz="1300" b="0">
                <a:solidFill>
                  <a:srgbClr val="C8D4E8"/>
                </a:solidFill>
                <a:latin typeface="맑은 고딕"/>
                <a:ea typeface="맑은 고딕"/>
              </a:rPr>
              <a:t>종합 등급: 최우수 (S)</a:t>
            </a:r>
          </a:p>
        </p:txBody>
      </p:sp>
      <p:sp>
        <p:nvSpPr>
          <p:cNvPr id="4" name="TextBox 3"/>
          <p:cNvSpPr txBox="1"/>
          <p:nvPr/>
        </p:nvSpPr>
        <p:spPr>
          <a:xfrm>
            <a:off x="548640" y="1234440"/>
            <a:ext cx="10972800" cy="320040"/>
          </a:xfrm>
          <a:prstGeom prst="rect">
            <a:avLst/>
          </a:prstGeom>
          <a:noFill/>
        </p:spPr>
        <p:txBody>
          <a:bodyPr wrap="square">
            <a:spAutoFit/>
          </a:bodyPr>
          <a:lstStyle/>
          <a:p>
            <a:pPr algn="l"/>
            <a:r>
              <a:rPr sz="1400" b="1">
                <a:solidFill>
                  <a:srgbClr val="2E5A9E"/>
                </a:solidFill>
                <a:latin typeface="맑은 고딕"/>
                <a:ea typeface="맑은 고딕"/>
              </a:rPr>
              <a:t>프로젝트 개요</a:t>
            </a:r>
          </a:p>
        </p:txBody>
      </p:sp>
      <p:sp>
        <p:nvSpPr>
          <p:cNvPr id="5" name="TextBox 4"/>
          <p:cNvSpPr txBox="1"/>
          <p:nvPr/>
        </p:nvSpPr>
        <p:spPr>
          <a:xfrm>
            <a:off x="548640" y="1554480"/>
            <a:ext cx="11064240" cy="1005840"/>
          </a:xfrm>
          <a:prstGeom prst="rect">
            <a:avLst/>
          </a:prstGeom>
          <a:noFill/>
        </p:spPr>
        <p:txBody>
          <a:bodyPr wrap="square">
            <a:spAutoFit/>
          </a:bodyPr>
          <a:lstStyle/>
          <a:p>
            <a:pPr algn="l"/>
            <a:r>
              <a:rPr sz="1250" b="0">
                <a:solidFill>
                  <a:srgbClr val="222222"/>
                </a:solidFill>
                <a:latin typeface="맑은 고딕"/>
                <a:ea typeface="맑은 고딕"/>
              </a:rPr>
              <a:t>산업 스크리닝 → 기업 스코어링(moat-scorer 서브에이전트) → 밸류에이션 → 적대적 반박(pro_tackler) → 데스크 헤드 최종 보고서로 이어지는, 4인이 파일 기반 계약으로 협업하는 파이프라인.</a:t>
            </a:r>
          </a:p>
        </p:txBody>
      </p:sp>
      <p:sp>
        <p:nvSpPr>
          <p:cNvPr id="6" name="TextBox 5"/>
          <p:cNvSpPr txBox="1"/>
          <p:nvPr/>
        </p:nvSpPr>
        <p:spPr>
          <a:xfrm>
            <a:off x="548640" y="2606040"/>
            <a:ext cx="5394960" cy="320040"/>
          </a:xfrm>
          <a:prstGeom prst="rect">
            <a:avLst/>
          </a:prstGeom>
          <a:noFill/>
        </p:spPr>
        <p:txBody>
          <a:bodyPr wrap="square">
            <a:spAutoFit/>
          </a:bodyPr>
          <a:lstStyle/>
          <a:p>
            <a:pPr algn="l"/>
            <a:r>
              <a:rPr sz="1400" b="1">
                <a:solidFill>
                  <a:srgbClr val="1E7A3C"/>
                </a:solidFill>
                <a:latin typeface="맑은 고딕"/>
                <a:ea typeface="맑은 고딕"/>
              </a:rPr>
              <a:t>강점</a:t>
            </a:r>
          </a:p>
        </p:txBody>
      </p:sp>
      <p:sp>
        <p:nvSpPr>
          <p:cNvPr id="7" name="TextBox 6"/>
          <p:cNvSpPr txBox="1"/>
          <p:nvPr/>
        </p:nvSpPr>
        <p:spPr>
          <a:xfrm>
            <a:off x="548640" y="2926080"/>
            <a:ext cx="5394960" cy="3383280"/>
          </a:xfrm>
          <a:prstGeom prst="rect">
            <a:avLst/>
          </a:prstGeom>
          <a:noFill/>
        </p:spPr>
        <p:txBody>
          <a:bodyPr wrap="square">
            <a:spAutoFit/>
          </a:bodyPr>
          <a:lstStyle/>
          <a:p>
            <a:pPr>
              <a:lnSpc>
                <a:spcPct val="115000"/>
              </a:lnSpc>
              <a:spcAft>
                <a:spcPts val="600"/>
              </a:spcAft>
            </a:pPr>
            <a:r>
              <a:rPr sz="1200" b="0">
                <a:solidFill>
                  <a:srgbClr val="222222"/>
                </a:solidFill>
                <a:latin typeface="맑은 고딕"/>
                <a:ea typeface="맑은 고딕"/>
              </a:rPr>
              <a:t>•  적대적 자기비평(pro_tackler) 단계로 AI의 아첨 편향을 구조적으로 방지</a:t>
            </a:r>
          </a:p>
          <a:p>
            <a:pPr>
              <a:lnSpc>
                <a:spcPct val="115000"/>
              </a:lnSpc>
              <a:spcAft>
                <a:spcPts val="600"/>
              </a:spcAft>
            </a:pPr>
            <a:r>
              <a:rPr sz="1200" b="0">
                <a:solidFill>
                  <a:srgbClr val="222222"/>
                </a:solidFill>
                <a:latin typeface="맑은 고딕"/>
                <a:ea typeface="맑은 고딕"/>
              </a:rPr>
              <a:t>•  4개 조 중 최고 수준의 보고서 디자인·가독성</a:t>
            </a:r>
          </a:p>
          <a:p>
            <a:pPr>
              <a:lnSpc>
                <a:spcPct val="115000"/>
              </a:lnSpc>
              <a:spcAft>
                <a:spcPts val="600"/>
              </a:spcAft>
            </a:pPr>
            <a:r>
              <a:rPr sz="1200" b="0">
                <a:solidFill>
                  <a:srgbClr val="222222"/>
                </a:solidFill>
                <a:latin typeface="맑은 고딕"/>
                <a:ea typeface="맑은 고딕"/>
              </a:rPr>
              <a:t>•  파일 기반 계약(contract)으로 팀 협업 확장성을 확보한 엔지니어링 설계</a:t>
            </a:r>
          </a:p>
          <a:p>
            <a:pPr>
              <a:lnSpc>
                <a:spcPct val="115000"/>
              </a:lnSpc>
              <a:spcAft>
                <a:spcPts val="600"/>
              </a:spcAft>
            </a:pPr>
            <a:r>
              <a:rPr sz="1200" b="0">
                <a:solidFill>
                  <a:srgbClr val="222222"/>
                </a:solidFill>
                <a:latin typeface="맑은 고딕"/>
                <a:ea typeface="맑은 고딕"/>
              </a:rPr>
              <a:t>•  테스트 커버리지와 실측 데이터 재현성이 뒷받침됨</a:t>
            </a:r>
          </a:p>
        </p:txBody>
      </p:sp>
      <p:sp>
        <p:nvSpPr>
          <p:cNvPr id="8" name="TextBox 7"/>
          <p:cNvSpPr txBox="1"/>
          <p:nvPr/>
        </p:nvSpPr>
        <p:spPr>
          <a:xfrm>
            <a:off x="6217920" y="2606040"/>
            <a:ext cx="5394960" cy="320040"/>
          </a:xfrm>
          <a:prstGeom prst="rect">
            <a:avLst/>
          </a:prstGeom>
          <a:noFill/>
        </p:spPr>
        <p:txBody>
          <a:bodyPr wrap="square">
            <a:spAutoFit/>
          </a:bodyPr>
          <a:lstStyle/>
          <a:p>
            <a:pPr algn="l"/>
            <a:r>
              <a:rPr sz="1400" b="1">
                <a:solidFill>
                  <a:srgbClr val="B52A2A"/>
                </a:solidFill>
                <a:latin typeface="맑은 고딕"/>
                <a:ea typeface="맑은 고딕"/>
              </a:rPr>
              <a:t>보완점</a:t>
            </a:r>
          </a:p>
        </p:txBody>
      </p:sp>
      <p:sp>
        <p:nvSpPr>
          <p:cNvPr id="9" name="TextBox 8"/>
          <p:cNvSpPr txBox="1"/>
          <p:nvPr/>
        </p:nvSpPr>
        <p:spPr>
          <a:xfrm>
            <a:off x="6217920" y="2926080"/>
            <a:ext cx="5394960" cy="3383280"/>
          </a:xfrm>
          <a:prstGeom prst="rect">
            <a:avLst/>
          </a:prstGeom>
          <a:noFill/>
        </p:spPr>
        <p:txBody>
          <a:bodyPr wrap="square">
            <a:spAutoFit/>
          </a:bodyPr>
          <a:lstStyle/>
          <a:p>
            <a:pPr>
              <a:lnSpc>
                <a:spcPct val="115000"/>
              </a:lnSpc>
              <a:spcAft>
                <a:spcPts val="600"/>
              </a:spcAft>
            </a:pPr>
            <a:r>
              <a:rPr sz="1200" b="0">
                <a:solidFill>
                  <a:srgbClr val="222222"/>
                </a:solidFill>
                <a:latin typeface="맑은 고딕"/>
                <a:ea typeface="맑은 고딕"/>
              </a:rPr>
              <a:t>•  핵심 밸류에이션 엔진(core/)이 미완성 — 정량적 목표주가 산출 로직 부재</a:t>
            </a:r>
          </a:p>
          <a:p>
            <a:pPr>
              <a:lnSpc>
                <a:spcPct val="115000"/>
              </a:lnSpc>
              <a:spcAft>
                <a:spcPts val="600"/>
              </a:spcAft>
            </a:pPr>
            <a:r>
              <a:rPr sz="1200" b="0">
                <a:solidFill>
                  <a:srgbClr val="222222"/>
                </a:solidFill>
                <a:latin typeface="맑은 고딕"/>
                <a:ea typeface="맑은 고딕"/>
              </a:rPr>
              <a:t>•  일부 산출물 스키마 불일치를 자체 보고(예: segment_top 필드)</a:t>
            </a:r>
          </a:p>
        </p:txBody>
      </p:sp>
      <p:sp>
        <p:nvSpPr>
          <p:cNvPr id="10" name="TextBox 9"/>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Team3 — PLUS FUTURE (Desk) — 상세 평가</a:t>
            </a:r>
          </a:p>
        </p:txBody>
      </p:sp>
      <p:sp>
        <p:nvSpPr>
          <p:cNvPr id="4" name="TextBox 3"/>
          <p:cNvSpPr txBox="1"/>
          <p:nvPr/>
        </p:nvSpPr>
        <p:spPr>
          <a:xfrm>
            <a:off x="548640" y="1280160"/>
            <a:ext cx="10972800" cy="292608"/>
          </a:xfrm>
          <a:prstGeom prst="rect">
            <a:avLst/>
          </a:prstGeom>
          <a:noFill/>
        </p:spPr>
        <p:txBody>
          <a:bodyPr wrap="square">
            <a:spAutoFit/>
          </a:bodyPr>
          <a:lstStyle/>
          <a:p>
            <a:pPr algn="l"/>
            <a:r>
              <a:rPr sz="1350" b="1">
                <a:solidFill>
                  <a:srgbClr val="2E5A9E"/>
                </a:solidFill>
                <a:latin typeface="맑은 고딕"/>
                <a:ea typeface="맑은 고딕"/>
              </a:rPr>
              <a:t>① AI 활용 심도</a:t>
            </a:r>
          </a:p>
        </p:txBody>
      </p:sp>
      <p:sp>
        <p:nvSpPr>
          <p:cNvPr id="5" name="TextBox 4"/>
          <p:cNvSpPr txBox="1"/>
          <p:nvPr/>
        </p:nvSpPr>
        <p:spPr>
          <a:xfrm>
            <a:off x="548640" y="1645919"/>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최상급. moat-scorer(227줄)는 '판단 기본값은 NO'라는 원칙과 DART 원문 인용 의무화 등 정교한 해자 평가 프레임을 갖춤. pro_tackler(705줄)는 LLM의 아첨(sycophancy) 편향을 막기 위해 기본값을 FAIL로 설정한 적대적 비평 스킬로, AI 침식 5단계 사다리·인과 공격 패턴 등 투자위원회 수준의 논리를 구현. 스킬끼리 직접 호출하지 않고 파일로만 통신하도록 설계한 파이프라인 계약(contracts/pipeline.md)도 눈에 띔.</a:t>
            </a:r>
          </a:p>
        </p:txBody>
      </p:sp>
      <p:sp>
        <p:nvSpPr>
          <p:cNvPr id="6" name="TextBox 5"/>
          <p:cNvSpPr txBox="1"/>
          <p:nvPr/>
        </p:nvSpPr>
        <p:spPr>
          <a:xfrm>
            <a:off x="548640" y="2852928"/>
            <a:ext cx="10972800" cy="292608"/>
          </a:xfrm>
          <a:prstGeom prst="rect">
            <a:avLst/>
          </a:prstGeom>
          <a:noFill/>
        </p:spPr>
        <p:txBody>
          <a:bodyPr wrap="square">
            <a:spAutoFit/>
          </a:bodyPr>
          <a:lstStyle/>
          <a:p>
            <a:pPr algn="l"/>
            <a:r>
              <a:rPr sz="1350" b="1">
                <a:solidFill>
                  <a:srgbClr val="2E5A9E"/>
                </a:solidFill>
                <a:latin typeface="맑은 고딕"/>
                <a:ea typeface="맑은 고딕"/>
              </a:rPr>
              <a:t>② 투자자 보고서 다양성·깊이</a:t>
            </a:r>
          </a:p>
        </p:txBody>
      </p:sp>
      <p:sp>
        <p:nvSpPr>
          <p:cNvPr id="7" name="TextBox 6"/>
          <p:cNvSpPr txBox="1"/>
          <p:nvPr/>
        </p:nvSpPr>
        <p:spPr>
          <a:xfrm>
            <a:off x="548640" y="3218688"/>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두산에너빌리티 리포트는 pro_tackler의 '편입 1위' 판정을 데스크 헤드가 스스로 HOLD로 하향 조정하며 FACT/ESTIMATE/ASSUMPTION 태그와 Bull·Base·Bear 시나리오까지 제시 — 하위 단계 의견에 대한 자체 반박(dissent)까지 구현. 전력기기 산업 리포트는 FRED 금리·환율·유가 등 거시지표까지 반영.</a:t>
            </a:r>
          </a:p>
        </p:txBody>
      </p:sp>
      <p:sp>
        <p:nvSpPr>
          <p:cNvPr id="8" name="TextBox 7"/>
          <p:cNvSpPr txBox="1"/>
          <p:nvPr/>
        </p:nvSpPr>
        <p:spPr>
          <a:xfrm>
            <a:off x="548640" y="4425696"/>
            <a:ext cx="10972800" cy="292608"/>
          </a:xfrm>
          <a:prstGeom prst="rect">
            <a:avLst/>
          </a:prstGeom>
          <a:noFill/>
        </p:spPr>
        <p:txBody>
          <a:bodyPr wrap="square">
            <a:spAutoFit/>
          </a:bodyPr>
          <a:lstStyle/>
          <a:p>
            <a:pPr algn="l"/>
            <a:r>
              <a:rPr sz="1350" b="1">
                <a:solidFill>
                  <a:srgbClr val="2E5A9E"/>
                </a:solidFill>
                <a:latin typeface="맑은 고딕"/>
                <a:ea typeface="맑은 고딕"/>
              </a:rPr>
              <a:t>③ 실제 작동 여부</a:t>
            </a:r>
          </a:p>
        </p:txBody>
      </p:sp>
      <p:sp>
        <p:nvSpPr>
          <p:cNvPr id="9" name="TextBox 8"/>
          <p:cNvSpPr txBox="1"/>
          <p:nvPr/>
        </p:nvSpPr>
        <p:spPr>
          <a:xfrm>
            <a:off x="548640" y="4791456"/>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테스트 32/32 전부 통과. 실제 종목 58개의 목표주가 컨센서스 데이터를 확보. 핵심 밸류에이션 엔진(core/)은 미완성이지만 README·스킬 문서에 '3단계에서 멈추는 것은 정상'이라 명시해 미완성 사실을 투명하게 공개·관리하고 있음.</a:t>
            </a:r>
          </a:p>
        </p:txBody>
      </p:sp>
      <p:sp>
        <p:nvSpPr>
          <p:cNvPr id="10" name="TextBox 9"/>
          <p:cNvSpPr txBox="1"/>
          <p:nvPr/>
        </p:nvSpPr>
        <p:spPr>
          <a:xfrm>
            <a:off x="548640" y="5998464"/>
            <a:ext cx="10972800" cy="292608"/>
          </a:xfrm>
          <a:prstGeom prst="rect">
            <a:avLst/>
          </a:prstGeom>
          <a:noFill/>
        </p:spPr>
        <p:txBody>
          <a:bodyPr wrap="square">
            <a:spAutoFit/>
          </a:bodyPr>
          <a:lstStyle/>
          <a:p>
            <a:pPr algn="l"/>
            <a:r>
              <a:rPr sz="1350" b="1">
                <a:solidFill>
                  <a:srgbClr val="2E5A9E"/>
                </a:solidFill>
                <a:latin typeface="맑은 고딕"/>
                <a:ea typeface="맑은 고딕"/>
              </a:rPr>
              <a:t>④ 가독성·이해 용이성</a:t>
            </a:r>
          </a:p>
        </p:txBody>
      </p:sp>
      <p:sp>
        <p:nvSpPr>
          <p:cNvPr id="11" name="TextBox 10"/>
          <p:cNvSpPr txBox="1"/>
          <p:nvPr/>
        </p:nvSpPr>
        <p:spPr>
          <a:xfrm>
            <a:off x="548640" y="6364224"/>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report.html은 드림플러스 로고, 다크모드, 목차, 출처 각주까지 갖춘 잡지형 디자인으로 4개 조 중 시각적 완성도가 가장 높음.</a:t>
            </a:r>
          </a:p>
        </p:txBody>
      </p:sp>
      <p:sp>
        <p:nvSpPr>
          <p:cNvPr id="12" name="TextBox 11"/>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Team4 — DPIC Pre-IPO Desk</a:t>
            </a:r>
          </a:p>
          <a:p>
            <a:r>
              <a:rPr sz="1300" b="0">
                <a:solidFill>
                  <a:srgbClr val="C8D4E8"/>
                </a:solidFill>
                <a:latin typeface="맑은 고딕"/>
                <a:ea typeface="맑은 고딕"/>
              </a:rPr>
              <a:t>종합 등급: 보완 필요 (B)</a:t>
            </a:r>
          </a:p>
        </p:txBody>
      </p:sp>
      <p:sp>
        <p:nvSpPr>
          <p:cNvPr id="4" name="TextBox 3"/>
          <p:cNvSpPr txBox="1"/>
          <p:nvPr/>
        </p:nvSpPr>
        <p:spPr>
          <a:xfrm>
            <a:off x="548640" y="1234440"/>
            <a:ext cx="10972800" cy="320040"/>
          </a:xfrm>
          <a:prstGeom prst="rect">
            <a:avLst/>
          </a:prstGeom>
          <a:noFill/>
        </p:spPr>
        <p:txBody>
          <a:bodyPr wrap="square">
            <a:spAutoFit/>
          </a:bodyPr>
          <a:lstStyle/>
          <a:p>
            <a:pPr algn="l"/>
            <a:r>
              <a:rPr sz="1400" b="1">
                <a:solidFill>
                  <a:srgbClr val="2E5A9E"/>
                </a:solidFill>
                <a:latin typeface="맑은 고딕"/>
                <a:ea typeface="맑은 고딕"/>
              </a:rPr>
              <a:t>프로젝트 개요</a:t>
            </a:r>
          </a:p>
        </p:txBody>
      </p:sp>
      <p:sp>
        <p:nvSpPr>
          <p:cNvPr id="5" name="TextBox 4"/>
          <p:cNvSpPr txBox="1"/>
          <p:nvPr/>
        </p:nvSpPr>
        <p:spPr>
          <a:xfrm>
            <a:off x="548640" y="1554480"/>
            <a:ext cx="11064240" cy="1005840"/>
          </a:xfrm>
          <a:prstGeom prst="rect">
            <a:avLst/>
          </a:prstGeom>
          <a:noFill/>
        </p:spPr>
        <p:txBody>
          <a:bodyPr wrap="square">
            <a:spAutoFit/>
          </a:bodyPr>
          <a:lstStyle/>
          <a:p>
            <a:pPr algn="l"/>
            <a:r>
              <a:rPr sz="1250" b="0">
                <a:solidFill>
                  <a:srgbClr val="222222"/>
                </a:solidFill>
                <a:latin typeface="맑은 고딕"/>
                <a:ea typeface="맑은 고딕"/>
              </a:rPr>
              <a:t>스크리닝 → AI리스크 → 해자/락인 → 밸류에이션 → 메모작성으로 이어지는 5단계 파이프라인. 국가전략기술 68개 세부분야 리스트를 활용한 스크리닝 게이트가 특징.</a:t>
            </a:r>
          </a:p>
        </p:txBody>
      </p:sp>
      <p:sp>
        <p:nvSpPr>
          <p:cNvPr id="6" name="TextBox 5"/>
          <p:cNvSpPr txBox="1"/>
          <p:nvPr/>
        </p:nvSpPr>
        <p:spPr>
          <a:xfrm>
            <a:off x="548640" y="2606040"/>
            <a:ext cx="5394960" cy="320040"/>
          </a:xfrm>
          <a:prstGeom prst="rect">
            <a:avLst/>
          </a:prstGeom>
          <a:noFill/>
        </p:spPr>
        <p:txBody>
          <a:bodyPr wrap="square">
            <a:spAutoFit/>
          </a:bodyPr>
          <a:lstStyle/>
          <a:p>
            <a:pPr algn="l"/>
            <a:r>
              <a:rPr sz="1400" b="1">
                <a:solidFill>
                  <a:srgbClr val="1E7A3C"/>
                </a:solidFill>
                <a:latin typeface="맑은 고딕"/>
                <a:ea typeface="맑은 고딕"/>
              </a:rPr>
              <a:t>강점</a:t>
            </a:r>
          </a:p>
        </p:txBody>
      </p:sp>
      <p:sp>
        <p:nvSpPr>
          <p:cNvPr id="7" name="TextBox 6"/>
          <p:cNvSpPr txBox="1"/>
          <p:nvPr/>
        </p:nvSpPr>
        <p:spPr>
          <a:xfrm>
            <a:off x="548640" y="2926080"/>
            <a:ext cx="5394960" cy="3383280"/>
          </a:xfrm>
          <a:prstGeom prst="rect">
            <a:avLst/>
          </a:prstGeom>
          <a:noFill/>
        </p:spPr>
        <p:txBody>
          <a:bodyPr wrap="square">
            <a:spAutoFit/>
          </a:bodyPr>
          <a:lstStyle/>
          <a:p>
            <a:pPr>
              <a:lnSpc>
                <a:spcPct val="115000"/>
              </a:lnSpc>
              <a:spcAft>
                <a:spcPts val="600"/>
              </a:spcAft>
            </a:pPr>
            <a:r>
              <a:rPr sz="1200" b="0">
                <a:solidFill>
                  <a:srgbClr val="222222"/>
                </a:solidFill>
                <a:latin typeface="맑은 고딕"/>
                <a:ea typeface="맑은 고딕"/>
              </a:rPr>
              <a:t>•  AI 대체가능성 하드게이트라는, 프리IPO 투자에 특화된 독창적 아이디어</a:t>
            </a:r>
          </a:p>
          <a:p>
            <a:pPr>
              <a:lnSpc>
                <a:spcPct val="115000"/>
              </a:lnSpc>
              <a:spcAft>
                <a:spcPts val="600"/>
              </a:spcAft>
            </a:pPr>
            <a:r>
              <a:rPr sz="1200" b="0">
                <a:solidFill>
                  <a:srgbClr val="222222"/>
                </a:solidFill>
                <a:latin typeface="맑은 고딕"/>
                <a:ea typeface="맑은 고딕"/>
              </a:rPr>
              <a:t>•  DART 파서의 현실적 오류에 대한 대응(자회사 매출 오인식 버그 수정 등)</a:t>
            </a:r>
          </a:p>
          <a:p>
            <a:pPr>
              <a:lnSpc>
                <a:spcPct val="115000"/>
              </a:lnSpc>
              <a:spcAft>
                <a:spcPts val="600"/>
              </a:spcAft>
            </a:pPr>
            <a:r>
              <a:rPr sz="1200" b="0">
                <a:solidFill>
                  <a:srgbClr val="222222"/>
                </a:solidFill>
                <a:latin typeface="맑은 고딕"/>
                <a:ea typeface="맑은 고딕"/>
              </a:rPr>
              <a:t>•  실제 증권신고서 수치로 밸류에이션 로직을 검증하는 엔지니어링 태도</a:t>
            </a:r>
          </a:p>
        </p:txBody>
      </p:sp>
      <p:sp>
        <p:nvSpPr>
          <p:cNvPr id="8" name="TextBox 7"/>
          <p:cNvSpPr txBox="1"/>
          <p:nvPr/>
        </p:nvSpPr>
        <p:spPr>
          <a:xfrm>
            <a:off x="6217920" y="2606040"/>
            <a:ext cx="5394960" cy="320040"/>
          </a:xfrm>
          <a:prstGeom prst="rect">
            <a:avLst/>
          </a:prstGeom>
          <a:noFill/>
        </p:spPr>
        <p:txBody>
          <a:bodyPr wrap="square">
            <a:spAutoFit/>
          </a:bodyPr>
          <a:lstStyle/>
          <a:p>
            <a:pPr algn="l"/>
            <a:r>
              <a:rPr sz="1400" b="1">
                <a:solidFill>
                  <a:srgbClr val="B52A2A"/>
                </a:solidFill>
                <a:latin typeface="맑은 고딕"/>
                <a:ea typeface="맑은 고딕"/>
              </a:rPr>
              <a:t>보완점</a:t>
            </a:r>
          </a:p>
        </p:txBody>
      </p:sp>
      <p:sp>
        <p:nvSpPr>
          <p:cNvPr id="9" name="TextBox 8"/>
          <p:cNvSpPr txBox="1"/>
          <p:nvPr/>
        </p:nvSpPr>
        <p:spPr>
          <a:xfrm>
            <a:off x="6217920" y="2926080"/>
            <a:ext cx="5394960" cy="3383280"/>
          </a:xfrm>
          <a:prstGeom prst="rect">
            <a:avLst/>
          </a:prstGeom>
          <a:noFill/>
        </p:spPr>
        <p:txBody>
          <a:bodyPr wrap="square">
            <a:spAutoFit/>
          </a:bodyPr>
          <a:lstStyle/>
          <a:p>
            <a:pPr>
              <a:lnSpc>
                <a:spcPct val="115000"/>
              </a:lnSpc>
              <a:spcAft>
                <a:spcPts val="600"/>
              </a:spcAft>
            </a:pPr>
            <a:r>
              <a:rPr sz="1200" b="0">
                <a:solidFill>
                  <a:srgbClr val="222222"/>
                </a:solidFill>
                <a:latin typeface="맑은 고딕"/>
                <a:ea typeface="맑은 고딕"/>
              </a:rPr>
              <a:t>•  핵심 차별화 기능(AI 리스크 평가)이 스텁 상태로 완전 미구현</a:t>
            </a:r>
          </a:p>
          <a:p>
            <a:pPr>
              <a:lnSpc>
                <a:spcPct val="115000"/>
              </a:lnSpc>
              <a:spcAft>
                <a:spcPts val="600"/>
              </a:spcAft>
            </a:pPr>
            <a:r>
              <a:rPr sz="1200" b="0">
                <a:solidFill>
                  <a:srgbClr val="222222"/>
                </a:solidFill>
                <a:latin typeface="맑은 고딕"/>
                <a:ea typeface="맑은 고딕"/>
              </a:rPr>
              <a:t>•  최종 투자메모 대부분이 빈 템플릿 수준('확인 필요')</a:t>
            </a:r>
          </a:p>
          <a:p>
            <a:pPr>
              <a:lnSpc>
                <a:spcPct val="115000"/>
              </a:lnSpc>
              <a:spcAft>
                <a:spcPts val="600"/>
              </a:spcAft>
            </a:pPr>
            <a:r>
              <a:rPr sz="1200" b="0">
                <a:solidFill>
                  <a:srgbClr val="222222"/>
                </a:solidFill>
                <a:latin typeface="맑은 고딕"/>
                <a:ea typeface="맑은 고딕"/>
              </a:rPr>
              <a:t>•  완결된 산출물은 사실상 1건(StradVision, 그마저 fixture 데이터)뿐</a:t>
            </a:r>
          </a:p>
        </p:txBody>
      </p:sp>
      <p:sp>
        <p:nvSpPr>
          <p:cNvPr id="10" name="TextBox 9"/>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Team4 — DPIC Pre-IPO Desk — 상세 평가</a:t>
            </a:r>
          </a:p>
        </p:txBody>
      </p:sp>
      <p:sp>
        <p:nvSpPr>
          <p:cNvPr id="4" name="TextBox 3"/>
          <p:cNvSpPr txBox="1"/>
          <p:nvPr/>
        </p:nvSpPr>
        <p:spPr>
          <a:xfrm>
            <a:off x="548640" y="1280160"/>
            <a:ext cx="10972800" cy="292608"/>
          </a:xfrm>
          <a:prstGeom prst="rect">
            <a:avLst/>
          </a:prstGeom>
          <a:noFill/>
        </p:spPr>
        <p:txBody>
          <a:bodyPr wrap="square">
            <a:spAutoFit/>
          </a:bodyPr>
          <a:lstStyle/>
          <a:p>
            <a:pPr algn="l"/>
            <a:r>
              <a:rPr sz="1350" b="1">
                <a:solidFill>
                  <a:srgbClr val="2E5A9E"/>
                </a:solidFill>
                <a:latin typeface="맑은 고딕"/>
                <a:ea typeface="맑은 고딕"/>
              </a:rPr>
              <a:t>① AI 활용 심도</a:t>
            </a:r>
          </a:p>
        </p:txBody>
      </p:sp>
      <p:sp>
        <p:nvSpPr>
          <p:cNvPr id="5" name="TextBox 4"/>
          <p:cNvSpPr txBox="1"/>
          <p:nvPr/>
        </p:nvSpPr>
        <p:spPr>
          <a:xfrm>
            <a:off x="548640" y="1645919"/>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설계 자체는 5개 조 중 가장 야심참. 특히 'AI 대체 가능성이 확인되면 점수와 무관하게 자동 탈락'시키는 02_ai_risk 게이트는 프리IPO 투자에 실질적으로 필요한 독창적 관점. 그러나 실제 코드(agents/02_ai_risk/run.py)는 raise NotImplementedError로 미구현 — 핵심 차별화 포인트가 완성되지 못함. 01/03/04/05 단계는 실제 구현되어 있고, 밸류에이션 엔진은 스트라드비전·K뱅크의 실제 증권신고서 수치로 검증됨.</a:t>
            </a:r>
          </a:p>
        </p:txBody>
      </p:sp>
      <p:sp>
        <p:nvSpPr>
          <p:cNvPr id="6" name="TextBox 5"/>
          <p:cNvSpPr txBox="1"/>
          <p:nvPr/>
        </p:nvSpPr>
        <p:spPr>
          <a:xfrm>
            <a:off x="548640" y="2852928"/>
            <a:ext cx="10972800" cy="292608"/>
          </a:xfrm>
          <a:prstGeom prst="rect">
            <a:avLst/>
          </a:prstGeom>
          <a:noFill/>
        </p:spPr>
        <p:txBody>
          <a:bodyPr wrap="square">
            <a:spAutoFit/>
          </a:bodyPr>
          <a:lstStyle/>
          <a:p>
            <a:pPr algn="l"/>
            <a:r>
              <a:rPr sz="1350" b="1">
                <a:solidFill>
                  <a:srgbClr val="2E5A9E"/>
                </a:solidFill>
                <a:latin typeface="맑은 고딕"/>
                <a:ea typeface="맑은 고딕"/>
              </a:rPr>
              <a:t>② 투자자 보고서 다양성·깊이</a:t>
            </a:r>
          </a:p>
        </p:txBody>
      </p:sp>
      <p:sp>
        <p:nvSpPr>
          <p:cNvPr id="7" name="TextBox 6"/>
          <p:cNvSpPr txBox="1"/>
          <p:nvPr/>
        </p:nvSpPr>
        <p:spPr>
          <a:xfrm>
            <a:off x="548640" y="3218688"/>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메모 템플릿은 Exec Summary부터 Non-Consensus 논지, 부록까지 매우 포괄적으로 설계. 그러나 실제 산출된 furiosaai.md 등은 90% 이상이 '확인 필요' 상태로 비어 있음. StradVision 리포트만 fixture 데이터로 완성도 있게 채워짐(Market View 대비 Desk View +20.9% 괴리, R/R 0.51 등).</a:t>
            </a:r>
          </a:p>
        </p:txBody>
      </p:sp>
      <p:sp>
        <p:nvSpPr>
          <p:cNvPr id="8" name="TextBox 7"/>
          <p:cNvSpPr txBox="1"/>
          <p:nvPr/>
        </p:nvSpPr>
        <p:spPr>
          <a:xfrm>
            <a:off x="548640" y="4425696"/>
            <a:ext cx="10972800" cy="292608"/>
          </a:xfrm>
          <a:prstGeom prst="rect">
            <a:avLst/>
          </a:prstGeom>
          <a:noFill/>
        </p:spPr>
        <p:txBody>
          <a:bodyPr wrap="square">
            <a:spAutoFit/>
          </a:bodyPr>
          <a:lstStyle/>
          <a:p>
            <a:pPr algn="l"/>
            <a:r>
              <a:rPr sz="1350" b="1">
                <a:solidFill>
                  <a:srgbClr val="2E5A9E"/>
                </a:solidFill>
                <a:latin typeface="맑은 고딕"/>
                <a:ea typeface="맑은 고딕"/>
              </a:rPr>
              <a:t>③ 실제 작동 여부</a:t>
            </a:r>
          </a:p>
        </p:txBody>
      </p:sp>
      <p:sp>
        <p:nvSpPr>
          <p:cNvPr id="9" name="TextBox 8"/>
          <p:cNvSpPr txBox="1"/>
          <p:nvPr/>
        </p:nvSpPr>
        <p:spPr>
          <a:xfrm>
            <a:off x="548640" y="4791456"/>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DART 캐시 1,011개 파일을 확보해 광범위한 스크리닝 스윕을 실제로 수행한 정황이 확인됨. git 59커밋·6명 저자로 실질적인 반복 개발 이력도 확인. 다만 최종 산출물(투자 메모)의 완성도는 낮음.</a:t>
            </a:r>
          </a:p>
        </p:txBody>
      </p:sp>
      <p:sp>
        <p:nvSpPr>
          <p:cNvPr id="10" name="TextBox 9"/>
          <p:cNvSpPr txBox="1"/>
          <p:nvPr/>
        </p:nvSpPr>
        <p:spPr>
          <a:xfrm>
            <a:off x="548640" y="5998464"/>
            <a:ext cx="10972800" cy="292608"/>
          </a:xfrm>
          <a:prstGeom prst="rect">
            <a:avLst/>
          </a:prstGeom>
          <a:noFill/>
        </p:spPr>
        <p:txBody>
          <a:bodyPr wrap="square">
            <a:spAutoFit/>
          </a:bodyPr>
          <a:lstStyle/>
          <a:p>
            <a:pPr algn="l"/>
            <a:r>
              <a:rPr sz="1350" b="1">
                <a:solidFill>
                  <a:srgbClr val="2E5A9E"/>
                </a:solidFill>
                <a:latin typeface="맑은 고딕"/>
                <a:ea typeface="맑은 고딕"/>
              </a:rPr>
              <a:t>④ 가독성·이해 용이성</a:t>
            </a:r>
          </a:p>
        </p:txBody>
      </p:sp>
      <p:sp>
        <p:nvSpPr>
          <p:cNvPr id="11" name="TextBox 10"/>
          <p:cNvSpPr txBox="1"/>
          <p:nvPr/>
        </p:nvSpPr>
        <p:spPr>
          <a:xfrm>
            <a:off x="548640" y="6364224"/>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구조 자체는 투자자 친화적으로 설계되었으나, 대부분 항목이 미완성 폼(form)처럼 보여 비전문가에게는 '결론 없는 초안'으로 읽힐 위험이 있음.</a:t>
            </a:r>
          </a:p>
        </p:txBody>
      </p:sp>
      <p:sp>
        <p:nvSpPr>
          <p:cNvPr id="12" name="TextBox 11"/>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Team5 — Proven Scalability Agent</a:t>
            </a:r>
          </a:p>
          <a:p>
            <a:r>
              <a:rPr sz="1300" b="0">
                <a:solidFill>
                  <a:srgbClr val="C8D4E8"/>
                </a:solidFill>
                <a:latin typeface="맑은 고딕"/>
                <a:ea typeface="맑은 고딕"/>
              </a:rPr>
              <a:t>종합 등급: 우수 (A)</a:t>
            </a:r>
          </a:p>
        </p:txBody>
      </p:sp>
      <p:sp>
        <p:nvSpPr>
          <p:cNvPr id="4" name="TextBox 3"/>
          <p:cNvSpPr txBox="1"/>
          <p:nvPr/>
        </p:nvSpPr>
        <p:spPr>
          <a:xfrm>
            <a:off x="548640" y="1234440"/>
            <a:ext cx="10972800" cy="320040"/>
          </a:xfrm>
          <a:prstGeom prst="rect">
            <a:avLst/>
          </a:prstGeom>
          <a:noFill/>
        </p:spPr>
        <p:txBody>
          <a:bodyPr wrap="square">
            <a:spAutoFit/>
          </a:bodyPr>
          <a:lstStyle/>
          <a:p>
            <a:pPr algn="l"/>
            <a:r>
              <a:rPr sz="1400" b="1">
                <a:solidFill>
                  <a:srgbClr val="2E5A9E"/>
                </a:solidFill>
                <a:latin typeface="맑은 고딕"/>
                <a:ea typeface="맑은 고딕"/>
              </a:rPr>
              <a:t>프로젝트 개요</a:t>
            </a:r>
          </a:p>
        </p:txBody>
      </p:sp>
      <p:sp>
        <p:nvSpPr>
          <p:cNvPr id="5" name="TextBox 4"/>
          <p:cNvSpPr txBox="1"/>
          <p:nvPr/>
        </p:nvSpPr>
        <p:spPr>
          <a:xfrm>
            <a:off x="548640" y="1554480"/>
            <a:ext cx="11064240" cy="1005840"/>
          </a:xfrm>
          <a:prstGeom prst="rect">
            <a:avLst/>
          </a:prstGeom>
          <a:noFill/>
        </p:spPr>
        <p:txBody>
          <a:bodyPr wrap="square">
            <a:spAutoFit/>
          </a:bodyPr>
          <a:lstStyle/>
          <a:p>
            <a:pPr algn="l"/>
            <a:r>
              <a:rPr sz="1250" b="0">
                <a:solidFill>
                  <a:srgbClr val="222222"/>
                </a:solidFill>
                <a:latin typeface="맑은 고딕"/>
                <a:ea typeface="맑은 고딕"/>
              </a:rPr>
              <a:t>'구조적 수요·경제적 가치·물리적 임팩트·검증된 확장성' 4원칙 스코어카드. Next.js 웹앱과 파이썬 채점 엔진의 이중 구조를 갖춤. 가장 흥미로운 지점은 제출 산출물에서 LLM 실시간 호출을 의도적으로 제거한 'no-LLM pivot' 설계.</a:t>
            </a:r>
          </a:p>
        </p:txBody>
      </p:sp>
      <p:sp>
        <p:nvSpPr>
          <p:cNvPr id="6" name="TextBox 5"/>
          <p:cNvSpPr txBox="1"/>
          <p:nvPr/>
        </p:nvSpPr>
        <p:spPr>
          <a:xfrm>
            <a:off x="548640" y="2606040"/>
            <a:ext cx="5394960" cy="320040"/>
          </a:xfrm>
          <a:prstGeom prst="rect">
            <a:avLst/>
          </a:prstGeom>
          <a:noFill/>
        </p:spPr>
        <p:txBody>
          <a:bodyPr wrap="square">
            <a:spAutoFit/>
          </a:bodyPr>
          <a:lstStyle/>
          <a:p>
            <a:pPr algn="l"/>
            <a:r>
              <a:rPr sz="1400" b="1">
                <a:solidFill>
                  <a:srgbClr val="1E7A3C"/>
                </a:solidFill>
                <a:latin typeface="맑은 고딕"/>
                <a:ea typeface="맑은 고딕"/>
              </a:rPr>
              <a:t>강점</a:t>
            </a:r>
          </a:p>
        </p:txBody>
      </p:sp>
      <p:sp>
        <p:nvSpPr>
          <p:cNvPr id="7" name="TextBox 6"/>
          <p:cNvSpPr txBox="1"/>
          <p:nvPr/>
        </p:nvSpPr>
        <p:spPr>
          <a:xfrm>
            <a:off x="548640" y="2926080"/>
            <a:ext cx="5394960" cy="3383280"/>
          </a:xfrm>
          <a:prstGeom prst="rect">
            <a:avLst/>
          </a:prstGeom>
          <a:noFill/>
        </p:spPr>
        <p:txBody>
          <a:bodyPr wrap="square">
            <a:spAutoFit/>
          </a:bodyPr>
          <a:lstStyle/>
          <a:p>
            <a:pPr>
              <a:lnSpc>
                <a:spcPct val="115000"/>
              </a:lnSpc>
              <a:spcAft>
                <a:spcPts val="600"/>
              </a:spcAft>
            </a:pPr>
            <a:r>
              <a:rPr sz="1200" b="0">
                <a:solidFill>
                  <a:srgbClr val="222222"/>
                </a:solidFill>
                <a:latin typeface="맑은 고딕"/>
                <a:ea typeface="맑은 고딕"/>
              </a:rPr>
              <a:t>•  투자자 관점에서 가장 엄격하고 정직한 판정(불리한 결과도 은폐 없이 공개)</a:t>
            </a:r>
          </a:p>
          <a:p>
            <a:pPr>
              <a:lnSpc>
                <a:spcPct val="115000"/>
              </a:lnSpc>
              <a:spcAft>
                <a:spcPts val="600"/>
              </a:spcAft>
            </a:pPr>
            <a:r>
              <a:rPr sz="1200" b="0">
                <a:solidFill>
                  <a:srgbClr val="222222"/>
                </a:solidFill>
                <a:latin typeface="맑은 고딕"/>
                <a:ea typeface="맑은 고딕"/>
              </a:rPr>
              <a:t>•  근거수집과 판정을 분리한, 재현성이 높은 설계</a:t>
            </a:r>
          </a:p>
          <a:p>
            <a:pPr>
              <a:lnSpc>
                <a:spcPct val="115000"/>
              </a:lnSpc>
              <a:spcAft>
                <a:spcPts val="600"/>
              </a:spcAft>
            </a:pPr>
            <a:r>
              <a:rPr sz="1200" b="0">
                <a:solidFill>
                  <a:srgbClr val="222222"/>
                </a:solidFill>
                <a:latin typeface="맑은 고딕"/>
                <a:ea typeface="맑은 고딕"/>
              </a:rPr>
              <a:t>•  전문가용/일반인용 이중 리포트 체계</a:t>
            </a:r>
          </a:p>
          <a:p>
            <a:pPr>
              <a:lnSpc>
                <a:spcPct val="115000"/>
              </a:lnSpc>
              <a:spcAft>
                <a:spcPts val="600"/>
              </a:spcAft>
            </a:pPr>
            <a:r>
              <a:rPr sz="1200" b="0">
                <a:solidFill>
                  <a:srgbClr val="222222"/>
                </a:solidFill>
                <a:latin typeface="맑은 고딕"/>
                <a:ea typeface="맑은 고딕"/>
              </a:rPr>
              <a:t>•  145개 테스트로 뒷받침되는 신뢰성</a:t>
            </a:r>
          </a:p>
        </p:txBody>
      </p:sp>
      <p:sp>
        <p:nvSpPr>
          <p:cNvPr id="8" name="TextBox 7"/>
          <p:cNvSpPr txBox="1"/>
          <p:nvPr/>
        </p:nvSpPr>
        <p:spPr>
          <a:xfrm>
            <a:off x="6217920" y="2606040"/>
            <a:ext cx="5394960" cy="320040"/>
          </a:xfrm>
          <a:prstGeom prst="rect">
            <a:avLst/>
          </a:prstGeom>
          <a:noFill/>
        </p:spPr>
        <p:txBody>
          <a:bodyPr wrap="square">
            <a:spAutoFit/>
          </a:bodyPr>
          <a:lstStyle/>
          <a:p>
            <a:pPr algn="l"/>
            <a:r>
              <a:rPr sz="1400" b="1">
                <a:solidFill>
                  <a:srgbClr val="B52A2A"/>
                </a:solidFill>
                <a:latin typeface="맑은 고딕"/>
                <a:ea typeface="맑은 고딕"/>
              </a:rPr>
              <a:t>보완점</a:t>
            </a:r>
          </a:p>
        </p:txBody>
      </p:sp>
      <p:sp>
        <p:nvSpPr>
          <p:cNvPr id="9" name="TextBox 8"/>
          <p:cNvSpPr txBox="1"/>
          <p:nvPr/>
        </p:nvSpPr>
        <p:spPr>
          <a:xfrm>
            <a:off x="6217920" y="2926080"/>
            <a:ext cx="5394960" cy="3383280"/>
          </a:xfrm>
          <a:prstGeom prst="rect">
            <a:avLst/>
          </a:prstGeom>
          <a:noFill/>
        </p:spPr>
        <p:txBody>
          <a:bodyPr wrap="square">
            <a:spAutoFit/>
          </a:bodyPr>
          <a:lstStyle/>
          <a:p>
            <a:pPr>
              <a:lnSpc>
                <a:spcPct val="115000"/>
              </a:lnSpc>
              <a:spcAft>
                <a:spcPts val="600"/>
              </a:spcAft>
            </a:pPr>
            <a:r>
              <a:rPr sz="1200" b="0">
                <a:solidFill>
                  <a:srgbClr val="222222"/>
                </a:solidFill>
                <a:latin typeface="맑은 고딕"/>
                <a:ea typeface="맑은 고딕"/>
              </a:rPr>
              <a:t>•  제출된 파이썬 코드 자체에는 런타임 AI 추론이 없어, 코드만으로 'AI 활용도'를 판단하면 저평가될 소지</a:t>
            </a:r>
          </a:p>
          <a:p>
            <a:pPr>
              <a:lnSpc>
                <a:spcPct val="115000"/>
              </a:lnSpc>
              <a:spcAft>
                <a:spcPts val="600"/>
              </a:spcAft>
            </a:pPr>
            <a:r>
              <a:rPr sz="1200" b="0">
                <a:solidFill>
                  <a:srgbClr val="222222"/>
                </a:solidFill>
                <a:latin typeface="맑은 고딕"/>
                <a:ea typeface="맑은 고딕"/>
              </a:rPr>
              <a:t>•  5개사 전원 탈락 판정이라 실제 투자 추천 사례를 보여주지 못함</a:t>
            </a:r>
          </a:p>
        </p:txBody>
      </p:sp>
      <p:sp>
        <p:nvSpPr>
          <p:cNvPr id="10" name="TextBox 9"/>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Team5 — Proven Scalability Agent — 상세 평가</a:t>
            </a:r>
          </a:p>
        </p:txBody>
      </p:sp>
      <p:sp>
        <p:nvSpPr>
          <p:cNvPr id="4" name="TextBox 3"/>
          <p:cNvSpPr txBox="1"/>
          <p:nvPr/>
        </p:nvSpPr>
        <p:spPr>
          <a:xfrm>
            <a:off x="548640" y="1280160"/>
            <a:ext cx="10972800" cy="292608"/>
          </a:xfrm>
          <a:prstGeom prst="rect">
            <a:avLst/>
          </a:prstGeom>
          <a:noFill/>
        </p:spPr>
        <p:txBody>
          <a:bodyPr wrap="square">
            <a:spAutoFit/>
          </a:bodyPr>
          <a:lstStyle/>
          <a:p>
            <a:pPr algn="l"/>
            <a:r>
              <a:rPr sz="1350" b="1">
                <a:solidFill>
                  <a:srgbClr val="2E5A9E"/>
                </a:solidFill>
                <a:latin typeface="맑은 고딕"/>
                <a:ea typeface="맑은 고딕"/>
              </a:rPr>
              <a:t>① AI 활용 심도</a:t>
            </a:r>
          </a:p>
        </p:txBody>
      </p:sp>
      <p:sp>
        <p:nvSpPr>
          <p:cNvPr id="5" name="TextBox 4"/>
          <p:cNvSpPr txBox="1"/>
          <p:nvPr/>
        </p:nvSpPr>
        <p:spPr>
          <a:xfrm>
            <a:off x="548640" y="1645919"/>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AI 활용은 원칙별 서브에이전트 4개 설계와 '근거수집(AI)-판정(결정론적 코드) 분리' 아키텍처에 응축되어 있음. 캠프 규칙상 '제출 산출물이 LLM API를 직접 호출하면 안 된다'는 제약에 따라, 최종 파이썬 패키지에서는 LLM 호출 코드를 제거하고 대신 Claude Code 세션에서 서브에이전트가 근거를 수집해 evidence.json으로 저장하면 순수 파이썬이 채점하는 구조로 전환. '판정은 처음부터 파이썬의 몫이었고 이는 후퇴가 아니라 입력 경로의 변경'이라고 스스로 설계 의도를 문서화함. 이는 AI 활용의 후퇴라기보다 재현성을 지향한 의도적 설계이나, 제출된 코드 자체만 보면 런타임 AI 추론이 없다는 점은 평가 시 유의가 필요함. 별도 보유한 Next.js 앱에는 실제 LLM 호출 파이프라인이 남아 있어, 팀이 AI 오케스트레이션 자체는 능숙히 구현할 수 있음을 보여줌.</a:t>
            </a:r>
          </a:p>
        </p:txBody>
      </p:sp>
      <p:sp>
        <p:nvSpPr>
          <p:cNvPr id="6" name="TextBox 5"/>
          <p:cNvSpPr txBox="1"/>
          <p:nvPr/>
        </p:nvSpPr>
        <p:spPr>
          <a:xfrm>
            <a:off x="548640" y="2852928"/>
            <a:ext cx="10972800" cy="292608"/>
          </a:xfrm>
          <a:prstGeom prst="rect">
            <a:avLst/>
          </a:prstGeom>
          <a:noFill/>
        </p:spPr>
        <p:txBody>
          <a:bodyPr wrap="square">
            <a:spAutoFit/>
          </a:bodyPr>
          <a:lstStyle/>
          <a:p>
            <a:pPr algn="l"/>
            <a:r>
              <a:rPr sz="1350" b="1">
                <a:solidFill>
                  <a:srgbClr val="2E5A9E"/>
                </a:solidFill>
                <a:latin typeface="맑은 고딕"/>
                <a:ea typeface="맑은 고딕"/>
              </a:rPr>
              <a:t>② 투자자 보고서 다양성·깊이</a:t>
            </a:r>
          </a:p>
        </p:txBody>
      </p:sp>
      <p:sp>
        <p:nvSpPr>
          <p:cNvPr id="7" name="TextBox 6"/>
          <p:cNvSpPr txBox="1"/>
          <p:nvPr/>
        </p:nvSpPr>
        <p:spPr>
          <a:xfrm>
            <a:off x="548640" y="3218688"/>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4개 조 중 가장 '심사역'다운 냉정함. 에이치투(H2) 리포트는 DART상 동명이인 회사의 존재를 발견해 배제하고, 5년간 운영했음에도 CO2 저감량 실측 데이터가 전무하다는 이유로 하드게이트 탈락(48/100, Reject) 판정을 내림 — 낙관적 서사를 거부하고 실측 부재를 이유로 명확히 거절하는 투자자 관점의 엄격함이 돋보임.</a:t>
            </a:r>
          </a:p>
        </p:txBody>
      </p:sp>
      <p:sp>
        <p:nvSpPr>
          <p:cNvPr id="8" name="TextBox 7"/>
          <p:cNvSpPr txBox="1"/>
          <p:nvPr/>
        </p:nvSpPr>
        <p:spPr>
          <a:xfrm>
            <a:off x="548640" y="4425696"/>
            <a:ext cx="10972800" cy="292608"/>
          </a:xfrm>
          <a:prstGeom prst="rect">
            <a:avLst/>
          </a:prstGeom>
          <a:noFill/>
        </p:spPr>
        <p:txBody>
          <a:bodyPr wrap="square">
            <a:spAutoFit/>
          </a:bodyPr>
          <a:lstStyle/>
          <a:p>
            <a:pPr algn="l"/>
            <a:r>
              <a:rPr sz="1350" b="1">
                <a:solidFill>
                  <a:srgbClr val="2E5A9E"/>
                </a:solidFill>
                <a:latin typeface="맑은 고딕"/>
                <a:ea typeface="맑은 고딕"/>
              </a:rPr>
              <a:t>③ 실제 작동 여부</a:t>
            </a:r>
          </a:p>
        </p:txBody>
      </p:sp>
      <p:sp>
        <p:nvSpPr>
          <p:cNvPr id="9" name="TextBox 8"/>
          <p:cNvSpPr txBox="1"/>
          <p:nvPr/>
        </p:nvSpPr>
        <p:spPr>
          <a:xfrm>
            <a:off x="548640" y="4791456"/>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테스트 145/147 통과. 5개사 배치런에서 전원 저점수(0~12/25, 증거불충분)라는 '불리한' 결과를 그대로 공개했고, DART·웹에서 확인되지 않는 2개사는 추정 점수 없이 평가를 보류 — 데이터를 조작하지 않은 정직한 실행 증거.</a:t>
            </a:r>
          </a:p>
        </p:txBody>
      </p:sp>
      <p:sp>
        <p:nvSpPr>
          <p:cNvPr id="10" name="TextBox 9"/>
          <p:cNvSpPr txBox="1"/>
          <p:nvPr/>
        </p:nvSpPr>
        <p:spPr>
          <a:xfrm>
            <a:off x="548640" y="5998464"/>
            <a:ext cx="10972800" cy="292608"/>
          </a:xfrm>
          <a:prstGeom prst="rect">
            <a:avLst/>
          </a:prstGeom>
          <a:noFill/>
        </p:spPr>
        <p:txBody>
          <a:bodyPr wrap="square">
            <a:spAutoFit/>
          </a:bodyPr>
          <a:lstStyle/>
          <a:p>
            <a:pPr algn="l"/>
            <a:r>
              <a:rPr sz="1350" b="1">
                <a:solidFill>
                  <a:srgbClr val="2E5A9E"/>
                </a:solidFill>
                <a:latin typeface="맑은 고딕"/>
                <a:ea typeface="맑은 고딕"/>
              </a:rPr>
              <a:t>④ 가독성·이해 용이성</a:t>
            </a:r>
          </a:p>
        </p:txBody>
      </p:sp>
      <p:sp>
        <p:nvSpPr>
          <p:cNvPr id="11" name="TextBox 10"/>
          <p:cNvSpPr txBox="1"/>
          <p:nvPr/>
        </p:nvSpPr>
        <p:spPr>
          <a:xfrm>
            <a:off x="548640" y="6364224"/>
            <a:ext cx="11064240" cy="1051560"/>
          </a:xfrm>
          <a:prstGeom prst="rect">
            <a:avLst/>
          </a:prstGeom>
          <a:noFill/>
        </p:spPr>
        <p:txBody>
          <a:bodyPr wrap="square">
            <a:spAutoFit/>
          </a:bodyPr>
          <a:lstStyle/>
          <a:p>
            <a:pPr algn="l">
              <a:lnSpc>
                <a:spcPct val="112000"/>
              </a:lnSpc>
            </a:pPr>
            <a:r>
              <a:rPr sz="1150" b="0">
                <a:solidFill>
                  <a:srgbClr val="222222"/>
                </a:solidFill>
                <a:latin typeface="맑은 고딕"/>
                <a:ea typeface="맑은 고딕"/>
              </a:rPr>
              <a:t>심사역용 report.md와 비전문가용 report-plain.md를 분리 제공하며, 점수·결론은 규칙으로 고정해 두 문서 간 왜곡을 방지. 웹 UI(app/page.tsx)는 단계별 진행 표시가 있는 실사용 가능한 화면.</a:t>
            </a:r>
          </a:p>
        </p:txBody>
      </p:sp>
      <p:sp>
        <p:nvSpPr>
          <p:cNvPr id="12" name="TextBox 11"/>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4. 교육 내용의 산출물 반영 평가</a:t>
            </a:r>
          </a:p>
        </p:txBody>
      </p:sp>
      <p:sp>
        <p:nvSpPr>
          <p:cNvPr id="4" name="TextBox 3"/>
          <p:cNvSpPr txBox="1"/>
          <p:nvPr/>
        </p:nvSpPr>
        <p:spPr>
          <a:xfrm>
            <a:off x="548640" y="1234440"/>
            <a:ext cx="11064240" cy="914400"/>
          </a:xfrm>
          <a:prstGeom prst="rect">
            <a:avLst/>
          </a:prstGeom>
          <a:noFill/>
        </p:spPr>
        <p:txBody>
          <a:bodyPr wrap="square">
            <a:spAutoFit/>
          </a:bodyPr>
          <a:lstStyle/>
          <a:p>
            <a:pPr algn="l"/>
            <a:r>
              <a:rPr sz="1250" b="0">
                <a:solidFill>
                  <a:srgbClr val="222222"/>
                </a:solidFill>
                <a:latin typeface="맑은 고딕"/>
                <a:ea typeface="맑은 고딕"/>
              </a:rPr>
              <a:t>산출물의 완성도와는 별개로, 4개 조 모두 프로그램에서 다룬 것으로 보이는 특정 AI 활용 패턴을 독립적으로 구현했다는 점이 뚜렷했습니다. 이는 이번 교육이 '그럴듯한 결과를 빠르게 뽑아내는 법'이 아니라 '신뢰할 수 있는 판단 근거를 갖춘 AI 활용법'에 초점을 맞췄음을 보여줍니다.</a:t>
            </a:r>
          </a:p>
        </p:txBody>
      </p:sp>
      <p:sp>
        <p:nvSpPr>
          <p:cNvPr id="5" name="TextBox 4"/>
          <p:cNvSpPr txBox="1"/>
          <p:nvPr/>
        </p:nvSpPr>
        <p:spPr>
          <a:xfrm>
            <a:off x="548640" y="2286000"/>
            <a:ext cx="10972800" cy="274320"/>
          </a:xfrm>
          <a:prstGeom prst="rect">
            <a:avLst/>
          </a:prstGeom>
          <a:noFill/>
        </p:spPr>
        <p:txBody>
          <a:bodyPr wrap="square">
            <a:spAutoFit/>
          </a:bodyPr>
          <a:lstStyle/>
          <a:p>
            <a:pPr algn="l"/>
            <a:r>
              <a:rPr sz="1250" b="1">
                <a:solidFill>
                  <a:srgbClr val="2E5A9E"/>
                </a:solidFill>
                <a:latin typeface="맑은 고딕"/>
                <a:ea typeface="맑은 고딕"/>
              </a:rPr>
              <a:t>· 서브에이전트·스킬 아키텍처</a:t>
            </a:r>
          </a:p>
        </p:txBody>
      </p:sp>
      <p:sp>
        <p:nvSpPr>
          <p:cNvPr id="6" name="TextBox 5"/>
          <p:cNvSpPr txBox="1"/>
          <p:nvPr/>
        </p:nvSpPr>
        <p:spPr>
          <a:xfrm>
            <a:off x="822960" y="2606040"/>
            <a:ext cx="10789920" cy="685800"/>
          </a:xfrm>
          <a:prstGeom prst="rect">
            <a:avLst/>
          </a:prstGeom>
          <a:noFill/>
        </p:spPr>
        <p:txBody>
          <a:bodyPr wrap="square">
            <a:spAutoFit/>
          </a:bodyPr>
          <a:lstStyle/>
          <a:p>
            <a:pPr algn="l"/>
            <a:r>
              <a:rPr sz="1100" b="0">
                <a:solidFill>
                  <a:srgbClr val="333333"/>
                </a:solidFill>
                <a:latin typeface="맑은 고딕"/>
                <a:ea typeface="맑은 고딕"/>
              </a:rPr>
              <a:t>4개 조 모두 단일 프롬프트가 아니라 역할을 나눈 서브에이전트(Team1의 3개 투자철학, Team3의 moat-scorer, Team4의 5단계 에이전트, Team5의 4원칙 에이전트)와 재사용 가능한 스킬(SKILL.md)을 설계했습니다. 이는 '작업을 어떻게 쪼개서 AI에 위임할 것인가'라는 실전적인 에이전트 설계 교육이 이루어졌음을 시사합니다.</a:t>
            </a:r>
          </a:p>
        </p:txBody>
      </p:sp>
      <p:sp>
        <p:nvSpPr>
          <p:cNvPr id="7" name="TextBox 6"/>
          <p:cNvSpPr txBox="1"/>
          <p:nvPr/>
        </p:nvSpPr>
        <p:spPr>
          <a:xfrm>
            <a:off x="548640" y="3474720"/>
            <a:ext cx="10972800" cy="274320"/>
          </a:xfrm>
          <a:prstGeom prst="rect">
            <a:avLst/>
          </a:prstGeom>
          <a:noFill/>
        </p:spPr>
        <p:txBody>
          <a:bodyPr wrap="square">
            <a:spAutoFit/>
          </a:bodyPr>
          <a:lstStyle/>
          <a:p>
            <a:pPr algn="l"/>
            <a:r>
              <a:rPr sz="1250" b="1">
                <a:solidFill>
                  <a:srgbClr val="2E5A9E"/>
                </a:solidFill>
                <a:latin typeface="맑은 고딕"/>
                <a:ea typeface="맑은 고딕"/>
              </a:rPr>
              <a:t>· 근거 인용 강제·환각 방지</a:t>
            </a:r>
          </a:p>
        </p:txBody>
      </p:sp>
      <p:sp>
        <p:nvSpPr>
          <p:cNvPr id="8" name="TextBox 7"/>
          <p:cNvSpPr txBox="1"/>
          <p:nvPr/>
        </p:nvSpPr>
        <p:spPr>
          <a:xfrm>
            <a:off x="822960" y="3794759"/>
            <a:ext cx="10789920" cy="685800"/>
          </a:xfrm>
          <a:prstGeom prst="rect">
            <a:avLst/>
          </a:prstGeom>
          <a:noFill/>
        </p:spPr>
        <p:txBody>
          <a:bodyPr wrap="square">
            <a:spAutoFit/>
          </a:bodyPr>
          <a:lstStyle/>
          <a:p>
            <a:pPr algn="l"/>
            <a:r>
              <a:rPr sz="1100" b="0">
                <a:solidFill>
                  <a:srgbClr val="333333"/>
                </a:solidFill>
                <a:latin typeface="맑은 고딕"/>
                <a:ea typeface="맑은 고딕"/>
              </a:rPr>
              <a:t>Team1의 judgment-rules.md, Team3 moat-scorer의 인용 의무화, Team4의 evidence validator, Team5의 evidence schema(근거 없는 주장 자동 폐기)까지, 4개 조가 독립적으로 '출처 없으면 채택하지 않는다'는 원칙을 구현했습니다. 투자 리서치에 필수적인 신뢰성 교육이 핵심적으로 다뤄졌다는 강한 증거입니다.</a:t>
            </a:r>
          </a:p>
        </p:txBody>
      </p:sp>
      <p:sp>
        <p:nvSpPr>
          <p:cNvPr id="9" name="TextBox 8"/>
          <p:cNvSpPr txBox="1"/>
          <p:nvPr/>
        </p:nvSpPr>
        <p:spPr>
          <a:xfrm>
            <a:off x="548640" y="4663440"/>
            <a:ext cx="10972800" cy="274320"/>
          </a:xfrm>
          <a:prstGeom prst="rect">
            <a:avLst/>
          </a:prstGeom>
          <a:noFill/>
        </p:spPr>
        <p:txBody>
          <a:bodyPr wrap="square">
            <a:spAutoFit/>
          </a:bodyPr>
          <a:lstStyle/>
          <a:p>
            <a:pPr algn="l"/>
            <a:r>
              <a:rPr sz="1250" b="1">
                <a:solidFill>
                  <a:srgbClr val="2E5A9E"/>
                </a:solidFill>
                <a:latin typeface="맑은 고딕"/>
                <a:ea typeface="맑은 고딕"/>
              </a:rPr>
              <a:t>· 판단 불가·부정적 결론을 회피하지 않는 태도</a:t>
            </a:r>
          </a:p>
        </p:txBody>
      </p:sp>
      <p:sp>
        <p:nvSpPr>
          <p:cNvPr id="10" name="TextBox 9"/>
          <p:cNvSpPr txBox="1"/>
          <p:nvPr/>
        </p:nvSpPr>
        <p:spPr>
          <a:xfrm>
            <a:off x="822960" y="4983479"/>
            <a:ext cx="10789920" cy="685800"/>
          </a:xfrm>
          <a:prstGeom prst="rect">
            <a:avLst/>
          </a:prstGeom>
          <a:noFill/>
        </p:spPr>
        <p:txBody>
          <a:bodyPr wrap="square">
            <a:spAutoFit/>
          </a:bodyPr>
          <a:lstStyle/>
          <a:p>
            <a:pPr algn="l"/>
            <a:r>
              <a:rPr sz="1100" b="0">
                <a:solidFill>
                  <a:srgbClr val="333333"/>
                </a:solidFill>
                <a:latin typeface="맑은 고딕"/>
                <a:ea typeface="맑은 고딕"/>
              </a:rPr>
              <a:t>Team1의 AVOID 의견, Team3의 미완성 구간 투명 공개, Team4의 '확인 필요' 표기, Team5의 전원 Reject 판정 공개까지, '근거 없이 그럴듯한 답을 만들지 말라'는 원칙이 반복적으로 관찰됩니다.</a:t>
            </a:r>
          </a:p>
        </p:txBody>
      </p:sp>
      <p:sp>
        <p:nvSpPr>
          <p:cNvPr id="11" name="TextBox 10"/>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교육 내용의 산출물 반영 평가 (계속)</a:t>
            </a:r>
          </a:p>
        </p:txBody>
      </p:sp>
      <p:sp>
        <p:nvSpPr>
          <p:cNvPr id="4" name="TextBox 3"/>
          <p:cNvSpPr txBox="1"/>
          <p:nvPr/>
        </p:nvSpPr>
        <p:spPr>
          <a:xfrm>
            <a:off x="548640" y="1280160"/>
            <a:ext cx="10972800" cy="274320"/>
          </a:xfrm>
          <a:prstGeom prst="rect">
            <a:avLst/>
          </a:prstGeom>
          <a:noFill/>
        </p:spPr>
        <p:txBody>
          <a:bodyPr wrap="square">
            <a:spAutoFit/>
          </a:bodyPr>
          <a:lstStyle/>
          <a:p>
            <a:pPr algn="l"/>
            <a:r>
              <a:rPr sz="1250" b="1">
                <a:solidFill>
                  <a:srgbClr val="2E5A9E"/>
                </a:solidFill>
                <a:latin typeface="맑은 고딕"/>
                <a:ea typeface="맑은 고딕"/>
              </a:rPr>
              <a:t>· 병렬 실행·오케스트레이션</a:t>
            </a:r>
          </a:p>
        </p:txBody>
      </p:sp>
      <p:sp>
        <p:nvSpPr>
          <p:cNvPr id="5" name="TextBox 4"/>
          <p:cNvSpPr txBox="1"/>
          <p:nvPr/>
        </p:nvSpPr>
        <p:spPr>
          <a:xfrm>
            <a:off x="822960" y="1600200"/>
            <a:ext cx="10789920" cy="685800"/>
          </a:xfrm>
          <a:prstGeom prst="rect">
            <a:avLst/>
          </a:prstGeom>
          <a:noFill/>
        </p:spPr>
        <p:txBody>
          <a:bodyPr wrap="square">
            <a:spAutoFit/>
          </a:bodyPr>
          <a:lstStyle/>
          <a:p>
            <a:pPr algn="l"/>
            <a:r>
              <a:rPr sz="1100" b="0">
                <a:solidFill>
                  <a:srgbClr val="333333"/>
                </a:solidFill>
                <a:latin typeface="맑은 고딕"/>
                <a:ea typeface="맑은 고딕"/>
              </a:rPr>
              <a:t>Team1의 서브에이전트 병렬 디스패치, Team5 스킬 문서의 '한 메시지에서 동시에 실행하라'는 명시적 지침 등, Claude Code의 Task/Agent 도구를 병렬로 활용하는 구체적 기법이 교육되었음을 보여줍니다.</a:t>
            </a:r>
          </a:p>
        </p:txBody>
      </p:sp>
      <p:sp>
        <p:nvSpPr>
          <p:cNvPr id="6" name="TextBox 5"/>
          <p:cNvSpPr txBox="1"/>
          <p:nvPr/>
        </p:nvSpPr>
        <p:spPr>
          <a:xfrm>
            <a:off x="548640" y="2468880"/>
            <a:ext cx="10972800" cy="274320"/>
          </a:xfrm>
          <a:prstGeom prst="rect">
            <a:avLst/>
          </a:prstGeom>
          <a:noFill/>
        </p:spPr>
        <p:txBody>
          <a:bodyPr wrap="square">
            <a:spAutoFit/>
          </a:bodyPr>
          <a:lstStyle/>
          <a:p>
            <a:pPr algn="l"/>
            <a:r>
              <a:rPr sz="1250" b="1">
                <a:solidFill>
                  <a:srgbClr val="2E5A9E"/>
                </a:solidFill>
                <a:latin typeface="맑은 고딕"/>
                <a:ea typeface="맑은 고딕"/>
              </a:rPr>
              <a:t>· 적대적 자기검증(Self-Critique)</a:t>
            </a:r>
          </a:p>
        </p:txBody>
      </p:sp>
      <p:sp>
        <p:nvSpPr>
          <p:cNvPr id="7" name="TextBox 6"/>
          <p:cNvSpPr txBox="1"/>
          <p:nvPr/>
        </p:nvSpPr>
        <p:spPr>
          <a:xfrm>
            <a:off x="822960" y="2788920"/>
            <a:ext cx="10789920" cy="685800"/>
          </a:xfrm>
          <a:prstGeom prst="rect">
            <a:avLst/>
          </a:prstGeom>
          <a:noFill/>
        </p:spPr>
        <p:txBody>
          <a:bodyPr wrap="square">
            <a:spAutoFit/>
          </a:bodyPr>
          <a:lstStyle/>
          <a:p>
            <a:pPr algn="l"/>
            <a:r>
              <a:rPr sz="1100" b="0">
                <a:solidFill>
                  <a:srgbClr val="333333"/>
                </a:solidFill>
                <a:latin typeface="맑은 고딕"/>
                <a:ea typeface="맑은 고딕"/>
              </a:rPr>
              <a:t>Team3의 pro_tackler, Team1의 컴플라이언스 셀프체크, Team5의 하드게이트 판정 로직까지, LLM의 아첨(sycophancy) 편향에 대응하는 방법이 여러 조에서 별도로 구현되었습니다.</a:t>
            </a:r>
          </a:p>
        </p:txBody>
      </p:sp>
      <p:sp>
        <p:nvSpPr>
          <p:cNvPr id="8" name="TextBox 7"/>
          <p:cNvSpPr txBox="1"/>
          <p:nvPr/>
        </p:nvSpPr>
        <p:spPr>
          <a:xfrm>
            <a:off x="548640" y="3657600"/>
            <a:ext cx="10972800" cy="274320"/>
          </a:xfrm>
          <a:prstGeom prst="rect">
            <a:avLst/>
          </a:prstGeom>
          <a:noFill/>
        </p:spPr>
        <p:txBody>
          <a:bodyPr wrap="square">
            <a:spAutoFit/>
          </a:bodyPr>
          <a:lstStyle/>
          <a:p>
            <a:pPr algn="l"/>
            <a:r>
              <a:rPr sz="1250" b="1">
                <a:solidFill>
                  <a:srgbClr val="2E5A9E"/>
                </a:solidFill>
                <a:latin typeface="맑은 고딕"/>
                <a:ea typeface="맑은 고딕"/>
              </a:rPr>
              <a:t>· 스펙 우선 개발(Spec-driven Development)</a:t>
            </a:r>
          </a:p>
        </p:txBody>
      </p:sp>
      <p:sp>
        <p:nvSpPr>
          <p:cNvPr id="9" name="TextBox 8"/>
          <p:cNvSpPr txBox="1"/>
          <p:nvPr/>
        </p:nvSpPr>
        <p:spPr>
          <a:xfrm>
            <a:off x="822960" y="3977639"/>
            <a:ext cx="10789920" cy="685800"/>
          </a:xfrm>
          <a:prstGeom prst="rect">
            <a:avLst/>
          </a:prstGeom>
          <a:noFill/>
        </p:spPr>
        <p:txBody>
          <a:bodyPr wrap="square">
            <a:spAutoFit/>
          </a:bodyPr>
          <a:lstStyle/>
          <a:p>
            <a:pPr algn="l"/>
            <a:r>
              <a:rPr sz="1100" b="0">
                <a:solidFill>
                  <a:srgbClr val="333333"/>
                </a:solidFill>
                <a:latin typeface="맑은 고딕"/>
                <a:ea typeface="맑은 고딕"/>
              </a:rPr>
              <a:t>Team3의 superpowers/plans·specs, Team4의 docs/superpowers/specs 등, 설계 문서를 먼저 작성하고 이후 구현하는 협업 워크플로우가 관찰됩니다.</a:t>
            </a:r>
          </a:p>
        </p:txBody>
      </p:sp>
      <p:sp>
        <p:nvSpPr>
          <p:cNvPr id="10" name="Rectangle 9"/>
          <p:cNvSpPr/>
          <p:nvPr/>
        </p:nvSpPr>
        <p:spPr>
          <a:xfrm>
            <a:off x="548640" y="4937759"/>
            <a:ext cx="11064240" cy="1005840"/>
          </a:xfrm>
          <a:prstGeom prst="rect">
            <a:avLst/>
          </a:prstGeom>
          <a:solidFill>
            <a:srgbClr val="F4F6FA"/>
          </a:solidFill>
          <a:ln w="12700">
            <a:solidFill>
              <a:srgbClr val="2E5A9E"/>
            </a:solid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r>
              <a:rPr sz="1150" b="1">
                <a:solidFill>
                  <a:srgbClr val="1B2A4A"/>
                </a:solidFill>
                <a:latin typeface="맑은 고딕"/>
                <a:ea typeface="맑은 고딕"/>
              </a:rPr>
              <a:t>결과적으로 완성도 차이는 있었지만, 'AI를 신뢰할 수 있게 다루는 방법'(근거 기반 판단, 실패·한계를 숨기지 않는 태도, 작업 분해와 병렬 위임, 자기검증)이라는 핵심 커리큘럼이 4개 조 전반에 고르게 체화된 것으로 보이며, 이는 투자 리서치라는 도메인 특성에 부합하는 효과적인 교육 설계였다고 평가할 수 있습니다.</a:t>
            </a:r>
          </a:p>
        </p:txBody>
      </p:sp>
      <p:sp>
        <p:nvSpPr>
          <p:cNvPr id="11" name="TextBox 10"/>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058400" cy="822960"/>
          </a:xfrm>
          <a:prstGeom prst="rect">
            <a:avLst/>
          </a:prstGeom>
          <a:noFill/>
        </p:spPr>
        <p:txBody>
          <a:bodyPr wrap="square">
            <a:spAutoFit/>
          </a:bodyPr>
          <a:lstStyle/>
          <a:p>
            <a:r>
              <a:rPr sz="2600" b="1">
                <a:solidFill>
                  <a:srgbClr val="FFFFFF"/>
                </a:solidFill>
                <a:latin typeface="맑은 고딕"/>
                <a:ea typeface="맑은 고딕"/>
              </a:rPr>
              <a:t>5. 총평 및 제언</a:t>
            </a:r>
          </a:p>
        </p:txBody>
      </p:sp>
      <p:sp>
        <p:nvSpPr>
          <p:cNvPr id="4" name="Rectangle 3"/>
          <p:cNvSpPr/>
          <p:nvPr/>
        </p:nvSpPr>
        <p:spPr>
          <a:xfrm>
            <a:off x="548640" y="1234440"/>
            <a:ext cx="11064240"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맑은 고딕"/>
                <a:ea typeface="맑은 고딕"/>
              </a:rPr>
              <a:t>종합 순위: Team3(최우수) &gt; Team5 ≈ Team1(우수) &gt; Team4(보완 필요)  ※ Team2는 미제출로 평가 제외</a:t>
            </a:r>
          </a:p>
        </p:txBody>
      </p:sp>
      <p:sp>
        <p:nvSpPr>
          <p:cNvPr id="5" name="TextBox 4"/>
          <p:cNvSpPr txBox="1"/>
          <p:nvPr/>
        </p:nvSpPr>
        <p:spPr>
          <a:xfrm>
            <a:off x="548640" y="1965960"/>
            <a:ext cx="11064240" cy="4389120"/>
          </a:xfrm>
          <a:prstGeom prst="rect">
            <a:avLst/>
          </a:prstGeom>
          <a:noFill/>
        </p:spPr>
        <p:txBody>
          <a:bodyPr wrap="square">
            <a:spAutoFit/>
          </a:bodyPr>
          <a:lstStyle/>
          <a:p>
            <a:pPr>
              <a:lnSpc>
                <a:spcPct val="120000"/>
              </a:lnSpc>
              <a:spcAft>
                <a:spcPts val="600"/>
              </a:spcAft>
            </a:pPr>
            <a:r>
              <a:rPr sz="1300" b="0">
                <a:solidFill>
                  <a:srgbClr val="222222"/>
                </a:solidFill>
                <a:latin typeface="맑은 고딕"/>
                <a:ea typeface="맑은 고딕"/>
              </a:rPr>
              <a:t>•  4개 조 모두 '그럴듯하지만 근거 없는 낙관적 리포트'를 만들지 않으려는 태도가 뚜렷했습니다 — 이는 실제 투자 심사역이 가장 중요하게 여기는 자질(정직한 리스크 공개, 판단 근거의 추적 가능성)과 정확히 일치합니다.</a:t>
            </a:r>
          </a:p>
          <a:p>
            <a:pPr>
              <a:lnSpc>
                <a:spcPct val="120000"/>
              </a:lnSpc>
              <a:spcAft>
                <a:spcPts val="600"/>
              </a:spcAft>
            </a:pPr>
            <a:r>
              <a:rPr sz="1300" b="0">
                <a:solidFill>
                  <a:srgbClr val="222222"/>
                </a:solidFill>
                <a:latin typeface="맑은 고딕"/>
                <a:ea typeface="맑은 고딕"/>
              </a:rPr>
              <a:t>•  Team3는 적대적 자기비평 단계와 최고 수준의 보고서 디자인을 결합해 완성도·신뢰성·가독성 세 축에서 가장 균형 잡힌 결과물을 냈습니다.</a:t>
            </a:r>
          </a:p>
          <a:p>
            <a:pPr>
              <a:lnSpc>
                <a:spcPct val="120000"/>
              </a:lnSpc>
              <a:spcAft>
                <a:spcPts val="600"/>
              </a:spcAft>
            </a:pPr>
            <a:r>
              <a:rPr sz="1300" b="0">
                <a:solidFill>
                  <a:srgbClr val="222222"/>
                </a:solidFill>
                <a:latin typeface="맑은 고딕"/>
                <a:ea typeface="맑은 고딕"/>
              </a:rPr>
              <a:t>•  Team5는 '증거수집은 AI, 판정은 결정론적 코드'라는 재현성 지향 설계로 가장 엄격한 투자심사 태도를 보였으나, 제출 코드만 보면 AI 런타임 활용이 드러나지 않는 점은 평가 기준에 따라 논의가 필요합니다.</a:t>
            </a:r>
          </a:p>
          <a:p>
            <a:pPr>
              <a:lnSpc>
                <a:spcPct val="120000"/>
              </a:lnSpc>
              <a:spcAft>
                <a:spcPts val="600"/>
              </a:spcAft>
            </a:pPr>
            <a:r>
              <a:rPr sz="1300" b="0">
                <a:solidFill>
                  <a:srgbClr val="222222"/>
                </a:solidFill>
                <a:latin typeface="맑은 고딕"/>
                <a:ea typeface="맑은 고딕"/>
              </a:rPr>
              <a:t>•  Team1은 멀티에이전트 오케스트레이션과 MCP 연동 등 기술적 스펙트럼이 가장 넓었으나, 정량 밸류에이션과 디자인 일관성에서 아쉬움이 있었습니다.</a:t>
            </a:r>
          </a:p>
          <a:p>
            <a:pPr>
              <a:lnSpc>
                <a:spcPct val="120000"/>
              </a:lnSpc>
              <a:spcAft>
                <a:spcPts val="600"/>
              </a:spcAft>
            </a:pPr>
            <a:r>
              <a:rPr sz="1300" b="0">
                <a:solidFill>
                  <a:srgbClr val="222222"/>
                </a:solidFill>
                <a:latin typeface="맑은 고딕"/>
                <a:ea typeface="맑은 고딕"/>
              </a:rPr>
              <a:t>•  Team4는 'AI 대체가능성 하드게이트'라는 프리IPO 투자에 특화된 독창적 아이디어를 냈지만, 핵심 기능이 미구현 상태로 남아 최종 산출물의 실사용 가능성이 가장 낮았습니다. 다음 단계에서는 완성도보다 확장성에 치우친 설계를 실제 구현으로 마무리하는 것이 과제입니다.</a:t>
            </a:r>
          </a:p>
          <a:p>
            <a:pPr>
              <a:lnSpc>
                <a:spcPct val="120000"/>
              </a:lnSpc>
              <a:spcAft>
                <a:spcPts val="600"/>
              </a:spcAft>
            </a:pPr>
            <a:r>
              <a:rPr sz="1300" b="0">
                <a:solidFill>
                  <a:srgbClr val="222222"/>
                </a:solidFill>
                <a:latin typeface="맑은 고딕"/>
                <a:ea typeface="맑은 고딕"/>
              </a:rPr>
              <a:t>•  공통 개선점: 정량적 밸류에이션(DCF·피어 멀티플) 역량과 시각적 디자인 일관성은 5개 조 전반에서 보강이 필요합니다.</a:t>
            </a:r>
          </a:p>
        </p:txBody>
      </p:sp>
      <p:sp>
        <p:nvSpPr>
          <p:cNvPr id="6" name="TextBox 5"/>
          <p:cNvSpPr txBox="1"/>
          <p:nvPr/>
        </p:nvSpPr>
        <p:spPr>
          <a:xfrm>
            <a:off x="11430000" y="6537960"/>
            <a:ext cx="640080" cy="274320"/>
          </a:xfrm>
          <a:prstGeom prst="rect">
            <a:avLst/>
          </a:prstGeom>
          <a:noFill/>
        </p:spPr>
        <p:txBody>
          <a:bodyPr wrap="none">
            <a:spAutoFit/>
          </a:bodyPr>
          <a:lstStyle/>
          <a:p>
            <a:pPr algn="r"/>
            <a:r>
              <a:rPr sz="1000" b="0">
                <a:solidFill>
                  <a:srgbClr val="555555"/>
                </a:solidFill>
                <a:latin typeface="맑은 고딕"/>
                <a:ea typeface="맑은 고딕"/>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